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41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6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1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54.png"/><Relationship Id="rId7" Type="http://schemas.openxmlformats.org/officeDocument/2006/relationships/image" Target="../media/image11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55.png"/><Relationship Id="rId10" Type="http://schemas.openxmlformats.org/officeDocument/2006/relationships/image" Target="../media/image57.png"/><Relationship Id="rId4" Type="http://schemas.openxmlformats.org/officeDocument/2006/relationships/image" Target="../media/image18.png"/><Relationship Id="rId9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50.png"/><Relationship Id="rId4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5.png"/><Relationship Id="rId7" Type="http://schemas.openxmlformats.org/officeDocument/2006/relationships/image" Target="../media/image18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67.png"/><Relationship Id="rId10" Type="http://schemas.openxmlformats.org/officeDocument/2006/relationships/image" Target="../media/image69.png"/><Relationship Id="rId4" Type="http://schemas.openxmlformats.org/officeDocument/2006/relationships/image" Target="../media/image66.png"/><Relationship Id="rId9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28.png"/><Relationship Id="rId7" Type="http://schemas.openxmlformats.org/officeDocument/2006/relationships/image" Target="../media/image5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7.png"/><Relationship Id="rId7" Type="http://schemas.openxmlformats.org/officeDocument/2006/relationships/image" Target="../media/image80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84.png"/><Relationship Id="rId5" Type="http://schemas.openxmlformats.org/officeDocument/2006/relationships/image" Target="../media/image79.png"/><Relationship Id="rId10" Type="http://schemas.openxmlformats.org/officeDocument/2006/relationships/image" Target="../media/image83.png"/><Relationship Id="rId4" Type="http://schemas.openxmlformats.org/officeDocument/2006/relationships/image" Target="../media/image78.png"/><Relationship Id="rId9" Type="http://schemas.openxmlformats.org/officeDocument/2006/relationships/image" Target="../media/image8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app.powerbi.com/links/uaglO44oFg?ctid=97e5760c-fa12-4aae-b4e4-31b43f04e79d&amp;pbi_source=linkShare" TargetMode="External"/><Relationship Id="rId3" Type="http://schemas.openxmlformats.org/officeDocument/2006/relationships/image" Target="../media/image85.png"/><Relationship Id="rId7" Type="http://schemas.openxmlformats.org/officeDocument/2006/relationships/image" Target="../media/image8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Katrine164/Graduation-project.git" TargetMode="Externa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2235">
                  <a:alpha val="95000"/>
                </a:srgbClr>
              </a:gs>
              <a:gs pos="100000">
                <a:srgbClr val="162235">
                  <a:alpha val="88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749962"/>
            <a:ext cx="9429513" cy="149579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4000" b="1" dirty="0">
                <a:solidFill>
                  <a:srgbClr val="FFFFFF"/>
                </a:solidFill>
                <a:latin typeface="Source Code Pro"/>
              </a:rPr>
              <a:t> Sentiment Analysis of Scraped</a:t>
            </a:r>
            <a:r>
              <a:rPr sz="1400" dirty="0"/>
              <a:t>
</a:t>
            </a:r>
            <a:r>
              <a:rPr sz="4000" b="1" dirty="0">
                <a:solidFill>
                  <a:srgbClr val="FFFFFF"/>
                </a:solidFill>
                <a:latin typeface="Source Code Pro"/>
              </a:rPr>
              <a:t> </a:t>
            </a:r>
            <a:r>
              <a:rPr sz="4000" b="1" dirty="0" err="1">
                <a:solidFill>
                  <a:srgbClr val="37DCF2"/>
                </a:solidFill>
                <a:latin typeface="Source Code Pro"/>
              </a:rPr>
              <a:t>Talabat</a:t>
            </a:r>
            <a:r>
              <a:rPr sz="4000" b="1" dirty="0">
                <a:solidFill>
                  <a:srgbClr val="37DCF2"/>
                </a:solidFill>
                <a:latin typeface="Source Code Pro"/>
              </a:rPr>
              <a:t> Reviews</a:t>
            </a:r>
            <a:r>
              <a:rPr lang="en-US" sz="1400" b="1" dirty="0">
                <a:solidFill>
                  <a:srgbClr val="37DCF2"/>
                </a:solidFill>
                <a:latin typeface="Source Code Pro"/>
              </a:rPr>
              <a:t> </a:t>
            </a:r>
            <a:r>
              <a:rPr sz="4000" b="1" dirty="0">
                <a:solidFill>
                  <a:srgbClr val="FFFFFF"/>
                </a:solidFill>
                <a:latin typeface="Source Code Pro"/>
              </a:rPr>
              <a:t>Using NLP </a:t>
            </a:r>
          </a:p>
        </p:txBody>
      </p:sp>
      <p:sp>
        <p:nvSpPr>
          <p:cNvPr id="5" name="Rectangle 4"/>
          <p:cNvSpPr/>
          <p:nvPr/>
        </p:nvSpPr>
        <p:spPr>
          <a:xfrm>
            <a:off x="343974" y="3182659"/>
            <a:ext cx="2459925" cy="128587"/>
          </a:xfrm>
          <a:prstGeom prst="rect">
            <a:avLst/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20" y="4122734"/>
            <a:ext cx="471207" cy="3416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3338" y="4062860"/>
            <a:ext cx="2715260" cy="38010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Roboto Flex"/>
              </a:rPr>
              <a:t>Katrine</a:t>
            </a:r>
            <a:r>
              <a:rPr sz="1600" b="1" dirty="0">
                <a:solidFill>
                  <a:srgbClr val="FFFFFF"/>
                </a:solidFill>
                <a:latin typeface="Roboto Flex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Roboto Flex"/>
              </a:rPr>
              <a:t>Baqaeeen</a:t>
            </a:r>
            <a:endParaRPr sz="1600" b="1" dirty="0">
              <a:solidFill>
                <a:srgbClr val="FFFFFF"/>
              </a:solidFill>
              <a:latin typeface="Roboto Flex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5178" y="4406133"/>
            <a:ext cx="1287468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Roboto Flex"/>
              </a:rPr>
              <a:t>[202120564]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5429250"/>
            <a:ext cx="6457788" cy="581025"/>
          </a:xfrm>
          <a:prstGeom prst="roundRect">
            <a:avLst>
              <a:gd name="adj" fmla="val 2622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8654" y="5571616"/>
            <a:ext cx="3174202" cy="3153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 dirty="0">
                <a:solidFill>
                  <a:srgbClr val="FFFFFF"/>
                </a:solidFill>
                <a:latin typeface="Roboto Flex"/>
              </a:rPr>
              <a:t>Graduation Project</a:t>
            </a:r>
            <a:r>
              <a:rPr sz="1076" b="0" dirty="0">
                <a:solidFill>
                  <a:srgbClr val="FFFFFF"/>
                </a:solidFill>
                <a:latin typeface="Roboto Flex"/>
              </a:rPr>
              <a:t> | First Semester, 2025/202</a:t>
            </a:r>
            <a:r>
              <a:rPr lang="en-US" sz="1076" b="0" dirty="0">
                <a:solidFill>
                  <a:srgbClr val="FFFFFF"/>
                </a:solidFill>
                <a:latin typeface="Roboto Flex"/>
              </a:rPr>
              <a:t>6</a:t>
            </a:r>
            <a:r>
              <a:rPr sz="1076" b="0" dirty="0">
                <a:solidFill>
                  <a:srgbClr val="FFFFFF"/>
                </a:solidFill>
                <a:latin typeface="Roboto Flex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0919" y="1904999"/>
            <a:ext cx="188590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 Flex"/>
              </a:rPr>
              <a:t>NLP &amp; BI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0919" y="2190749"/>
            <a:ext cx="188590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FFFFF"/>
                </a:solidFill>
                <a:latin typeface="Roboto Flex"/>
              </a:rPr>
              <a:t>Advanced Analytics Pipeline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39219" y="2028047"/>
            <a:ext cx="285742" cy="2682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67593" y="2647949"/>
            <a:ext cx="181922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 Flex"/>
              </a:rPr>
              <a:t>Multilingual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7593" y="2933699"/>
            <a:ext cx="181922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Arabic &amp; English Reviews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39219" y="2782660"/>
            <a:ext cx="285742" cy="244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62820" y="3390899"/>
            <a:ext cx="1924001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 Flex"/>
              </a:rPr>
              <a:t>Interactive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820" y="3676649"/>
            <a:ext cx="19240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Business Intelligence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39219" y="3537273"/>
            <a:ext cx="285742" cy="22160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29514" y="4133849"/>
            <a:ext cx="165730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 Flex"/>
              </a:rPr>
              <a:t>4,216+ 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9514" y="4419600"/>
            <a:ext cx="165730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15 Restaurants Analyzed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239219" y="4268560"/>
            <a:ext cx="285742" cy="24492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10458188" y="4800600"/>
            <a:ext cx="1219169" cy="1219200"/>
          </a:xfrm>
          <a:prstGeom prst="roundRect">
            <a:avLst>
              <a:gd name="adj" fmla="val 15623437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1372565" y="4190999"/>
            <a:ext cx="914377" cy="914400"/>
          </a:xfrm>
          <a:prstGeom prst="roundRect">
            <a:avLst>
              <a:gd name="adj" fmla="val 2083125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525766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Abstract &amp; 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009649"/>
            <a:ext cx="5848203" cy="2343150"/>
          </a:xfrm>
          <a:prstGeom prst="roundRect">
            <a:avLst>
              <a:gd name="adj" fmla="val 6504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512461" y="2131694"/>
            <a:ext cx="23431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654" y="1278391"/>
            <a:ext cx="285742" cy="2245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66793" y="1200150"/>
            <a:ext cx="500049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 dirty="0">
                <a:solidFill>
                  <a:srgbClr val="37DCF2"/>
                </a:solidFill>
                <a:latin typeface="Source Code Pro"/>
              </a:rPr>
              <a:t>Why This Topic?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6793" y="1647825"/>
            <a:ext cx="500049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Food industry = most in-demand sector in Jordan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6793" y="2057400"/>
            <a:ext cx="500049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52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Talabat: heavily used, high % of 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793" y="2476499"/>
            <a:ext cx="5000499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52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Analyzing reviews provides </a:t>
            </a:r>
            <a:r>
              <a:rPr sz="1315" b="1">
                <a:solidFill>
                  <a:srgbClr val="37DCF2"/>
                </a:solidFill>
                <a:latin typeface="Roboto Flex"/>
              </a:rPr>
              <a:t>meaningful insights for decision-making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3505199"/>
            <a:ext cx="5848203" cy="1609724"/>
          </a:xfrm>
          <a:prstGeom prst="roundRect">
            <a:avLst>
              <a:gd name="adj" fmla="val 9467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-145748" y="4260531"/>
            <a:ext cx="160972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654" y="3789978"/>
            <a:ext cx="285742" cy="1924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66793" y="3695699"/>
            <a:ext cx="500049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 dirty="0">
                <a:solidFill>
                  <a:srgbClr val="37DCF2"/>
                </a:solidFill>
                <a:latin typeface="Source Code Pro"/>
              </a:rPr>
              <a:t>Why Text Reviews?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6793" y="4143375"/>
            <a:ext cx="1019149" cy="400050"/>
          </a:xfrm>
          <a:prstGeom prst="roundRect">
            <a:avLst>
              <a:gd name="adj" fmla="val 4761428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6793" y="4143375"/>
            <a:ext cx="101914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Emotions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62140" y="4143375"/>
            <a:ext cx="1247743" cy="400050"/>
          </a:xfrm>
          <a:prstGeom prst="roundRect">
            <a:avLst>
              <a:gd name="adj" fmla="val 4761428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62140" y="4143375"/>
            <a:ext cx="1247743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Experiences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95607" y="4143375"/>
            <a:ext cx="1028674" cy="400050"/>
          </a:xfrm>
          <a:prstGeom prst="roundRect">
            <a:avLst>
              <a:gd name="adj" fmla="val 4761428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95607" y="4143375"/>
            <a:ext cx="1028674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Problems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479" y="4143375"/>
            <a:ext cx="809604" cy="400050"/>
          </a:xfrm>
          <a:prstGeom prst="roundRect">
            <a:avLst>
              <a:gd name="adj" fmla="val 4761428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00479" y="4143375"/>
            <a:ext cx="809604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Details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6793" y="4602139"/>
            <a:ext cx="1828449" cy="33977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255" b="1" dirty="0">
                <a:solidFill>
                  <a:srgbClr val="37DCF2"/>
                </a:solidFill>
                <a:latin typeface="Roboto Flex"/>
              </a:rPr>
              <a:t>Very useful to analyze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" y="5257800"/>
            <a:ext cx="5848203" cy="1400175"/>
          </a:xfrm>
          <a:prstGeom prst="roundRect">
            <a:avLst>
              <a:gd name="adj" fmla="val 10884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-40973" y="5908357"/>
            <a:ext cx="14001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654" y="5527998"/>
            <a:ext cx="285742" cy="22160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66793" y="5448300"/>
            <a:ext cx="500049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37DCF2"/>
                </a:solidFill>
                <a:latin typeface="Source Code Pro"/>
              </a:rPr>
              <a:t>NLP + Sentiment Analysis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6793" y="6128497"/>
            <a:ext cx="190495" cy="10645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33486" y="5895974"/>
            <a:ext cx="1352516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Identify problems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62200" y="6108886"/>
            <a:ext cx="190495" cy="1456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228894" y="5895974"/>
            <a:ext cx="1885902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Find strengths/weaknesses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57608" y="6128497"/>
            <a:ext cx="190495" cy="10645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924301" y="6038849"/>
            <a:ext cx="123821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Monitor trends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34066" y="1143000"/>
            <a:ext cx="4590935" cy="5372100"/>
          </a:xfrm>
          <a:prstGeom prst="roundRect">
            <a:avLst>
              <a:gd name="adj" fmla="val 4979"/>
            </a:avLst>
          </a:prstGeom>
          <a:solidFill>
            <a:srgbClr val="37DCF2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448363" y="1257300"/>
            <a:ext cx="4362340" cy="5143500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448363" y="5943600"/>
            <a:ext cx="4362340" cy="4572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62660" y="6057900"/>
            <a:ext cx="413374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</a:rPr>
              <a:t>Sentiment Classification: Positive / Neutral / Negative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B74D9F60-4B7A-D8BB-7BCF-7D5F1BED995E}"/>
              </a:ext>
            </a:extLst>
          </p:cNvPr>
          <p:cNvSpPr/>
          <p:nvPr/>
        </p:nvSpPr>
        <p:spPr>
          <a:xfrm>
            <a:off x="4330618" y="3579145"/>
            <a:ext cx="448690" cy="257175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4919B3-D120-98F3-8769-F4C2C681C15A}"/>
              </a:ext>
            </a:extLst>
          </p:cNvPr>
          <p:cNvSpPr txBox="1"/>
          <p:nvPr/>
        </p:nvSpPr>
        <p:spPr>
          <a:xfrm>
            <a:off x="4807998" y="3579145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FF"/>
                </a:solidFill>
                <a:latin typeface="Roboto Flex"/>
              </a:rPr>
              <a:t>Unstructured data </a:t>
            </a:r>
            <a:endParaRPr 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335BD2-7567-9E99-7BF1-D18523952A92}"/>
              </a:ext>
            </a:extLst>
          </p:cNvPr>
          <p:cNvSpPr txBox="1"/>
          <p:nvPr/>
        </p:nvSpPr>
        <p:spPr>
          <a:xfrm>
            <a:off x="3632001" y="3548368"/>
            <a:ext cx="1235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Source Code Pro"/>
              </a:rPr>
              <a:t>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4114697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981074"/>
            <a:ext cx="3505112" cy="3648074"/>
          </a:xfrm>
          <a:prstGeom prst="roundRect">
            <a:avLst>
              <a:gd name="adj" fmla="val 8695"/>
            </a:avLst>
          </a:prstGeom>
          <a:solidFill>
            <a:srgbClr val="FFFFFF">
              <a:alpha val="3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7228" y="1228725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7248" y="1381124"/>
            <a:ext cx="361940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37DCF2"/>
                </a:solidFill>
                <a:latin typeface="Source Code Pr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28" y="2143125"/>
            <a:ext cx="300982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37DCF2"/>
                </a:solidFill>
                <a:latin typeface="Source Code Pro"/>
              </a:rPr>
              <a:t>Analyze Sentiment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28" y="2552700"/>
            <a:ext cx="300982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Customer Sentiment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75" y="2990849"/>
            <a:ext cx="287647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255" b="0">
                <a:solidFill>
                  <a:srgbClr val="FFFFFF"/>
                </a:solidFill>
                <a:latin typeface="Roboto Flex"/>
              </a:rPr>
              <a:t>Track sentiment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75" y="3390899"/>
            <a:ext cx="2876478" cy="6000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255" b="0">
                <a:solidFill>
                  <a:srgbClr val="FFFFFF"/>
                </a:solidFill>
                <a:latin typeface="Roboto Flex"/>
              </a:rPr>
              <a:t>Detect spikes (+15%) &amp; drops (-15%)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75" y="4076699"/>
            <a:ext cx="287647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255" b="0">
                <a:solidFill>
                  <a:srgbClr val="FFFFFF"/>
                </a:solidFill>
                <a:latin typeface="Roboto Flex"/>
              </a:rPr>
              <a:t>Monitor sentiment intensity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291" y="981074"/>
            <a:ext cx="3505112" cy="3648074"/>
          </a:xfrm>
          <a:prstGeom prst="roundRect">
            <a:avLst>
              <a:gd name="adj" fmla="val 8695"/>
            </a:avLst>
          </a:prstGeom>
          <a:solidFill>
            <a:srgbClr val="FFFFFF">
              <a:alpha val="3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90935" y="1228725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90955" y="1381124"/>
            <a:ext cx="361940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37DCF2"/>
                </a:solidFill>
                <a:latin typeface="Source Code Pr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935" y="2143125"/>
            <a:ext cx="300982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37DCF2"/>
                </a:solidFill>
                <a:latin typeface="Source Code Pro"/>
              </a:rPr>
              <a:t>Extract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935" y="2552700"/>
            <a:ext cx="300982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Business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4281" y="2990849"/>
            <a:ext cx="287647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255" b="0">
                <a:solidFill>
                  <a:srgbClr val="FFFFFF"/>
                </a:solidFill>
                <a:latin typeface="Roboto Flex"/>
              </a:rPr>
              <a:t>Identify problems &amp;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281" y="3390899"/>
            <a:ext cx="287647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255" b="0">
                <a:solidFill>
                  <a:srgbClr val="FFFFFF"/>
                </a:solidFill>
                <a:latin typeface="Roboto Flex"/>
              </a:rPr>
              <a:t>Find strengths/weaknesses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4281" y="3781424"/>
            <a:ext cx="287647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255" b="0">
                <a:solidFill>
                  <a:srgbClr val="FFFFFF"/>
                </a:solidFill>
                <a:latin typeface="Roboto Flex"/>
              </a:rPr>
              <a:t>Measure satisfaction levels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6998" y="981074"/>
            <a:ext cx="3505112" cy="3648074"/>
          </a:xfrm>
          <a:prstGeom prst="roundRect">
            <a:avLst>
              <a:gd name="adj" fmla="val 8695"/>
            </a:avLst>
          </a:prstGeom>
          <a:solidFill>
            <a:srgbClr val="FFFFFF">
              <a:alpha val="3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324641" y="1228725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24661" y="1381124"/>
            <a:ext cx="361940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37DCF2"/>
                </a:solidFill>
                <a:latin typeface="Source Code Pr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4641" y="2143125"/>
            <a:ext cx="300982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37DCF2"/>
                </a:solidFill>
                <a:latin typeface="Source Code Pro"/>
              </a:rPr>
              <a:t>Support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4641" y="2552700"/>
            <a:ext cx="300982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Strategic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7988" y="2990849"/>
            <a:ext cx="287647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255" b="0">
                <a:solidFill>
                  <a:srgbClr val="FFFFFF"/>
                </a:solidFill>
                <a:latin typeface="Roboto Flex"/>
              </a:rPr>
              <a:t>Improve service 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7988" y="3390899"/>
            <a:ext cx="287647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255" b="0">
                <a:solidFill>
                  <a:srgbClr val="FFFFFF"/>
                </a:solidFill>
                <a:latin typeface="Roboto Flex"/>
              </a:rPr>
              <a:t>Enable better customer choices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7988" y="3781424"/>
            <a:ext cx="287647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255" b="0">
                <a:solidFill>
                  <a:srgbClr val="FFFFFF"/>
                </a:solidFill>
                <a:latin typeface="Roboto Flex"/>
              </a:rPr>
              <a:t>Performance monitoring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584" y="4857750"/>
            <a:ext cx="10972525" cy="1371600"/>
          </a:xfrm>
          <a:prstGeom prst="roundRect">
            <a:avLst>
              <a:gd name="adj" fmla="val 16666"/>
            </a:avLst>
          </a:prstGeom>
          <a:solidFill>
            <a:srgbClr val="37DCF2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604" y="5132069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52496" y="5057775"/>
            <a:ext cx="342891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Key Performance Questions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604" y="5514975"/>
            <a:ext cx="2562160" cy="514350"/>
          </a:xfrm>
          <a:prstGeom prst="roundRect">
            <a:avLst>
              <a:gd name="adj" fmla="val 2962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901" y="5722374"/>
            <a:ext cx="171445" cy="9955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71545" y="5629275"/>
            <a:ext cx="175255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Improving over time?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86062" y="5514975"/>
            <a:ext cx="2562160" cy="514350"/>
          </a:xfrm>
          <a:prstGeom prst="roundRect">
            <a:avLst>
              <a:gd name="adj" fmla="val 2962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0359" y="5722374"/>
            <a:ext cx="171445" cy="9955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848003" y="5629275"/>
            <a:ext cx="87627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Receding?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2996" y="5514975"/>
            <a:ext cx="2562160" cy="514350"/>
          </a:xfrm>
          <a:prstGeom prst="roundRect">
            <a:avLst>
              <a:gd name="adj" fmla="val 2962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7293" y="5719608"/>
            <a:ext cx="171445" cy="10508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514937" y="5629275"/>
            <a:ext cx="160015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High drops/spikes?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19929" y="5514975"/>
            <a:ext cx="2562160" cy="514350"/>
          </a:xfrm>
          <a:prstGeom prst="roundRect">
            <a:avLst>
              <a:gd name="adj" fmla="val 2962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34226" y="5697486"/>
            <a:ext cx="171445" cy="14932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181870" y="5629275"/>
            <a:ext cx="61910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Stable?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14537" y="6445567"/>
            <a:ext cx="228594" cy="17716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895527" y="6391275"/>
            <a:ext cx="640063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Food industry is highly competitive → Continuous monitoring recommended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448563" y="6471284"/>
            <a:ext cx="228594" cy="1257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365750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Data Acquisition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647699"/>
            <a:ext cx="6000599" cy="1514475"/>
          </a:xfrm>
          <a:prstGeom prst="roundRect">
            <a:avLst>
              <a:gd name="adj" fmla="val 10062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174321" y="1355406"/>
            <a:ext cx="15144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6258" y="817244"/>
            <a:ext cx="228594" cy="1943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9149" y="761999"/>
            <a:ext cx="540053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Challenges with Data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397" y="1152524"/>
            <a:ext cx="2571685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Can't ask every 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7528" y="1152524"/>
            <a:ext cx="2571685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No downloadable 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397" y="1504950"/>
            <a:ext cx="2571685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Dynamic data (new feedback/customers)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7528" y="1504950"/>
            <a:ext cx="2571685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Static datasets become outdated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386" y="2266950"/>
            <a:ext cx="6000599" cy="1495424"/>
          </a:xfrm>
          <a:prstGeom prst="roundRect">
            <a:avLst>
              <a:gd name="adj" fmla="val 10191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-164796" y="2965132"/>
            <a:ext cx="149542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258" y="2436495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19149" y="2381250"/>
            <a:ext cx="540053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Why Web Scraping?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4397" y="2781300"/>
            <a:ext cx="1657308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100% Authentic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3151" y="2781300"/>
            <a:ext cx="1657308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No cleaning overhead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1905" y="2781300"/>
            <a:ext cx="1657308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Tailored attributes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149" y="3390899"/>
            <a:ext cx="540053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Avoids: Outdated • Limited • Unnecessary fields • Lacks relevance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3386" y="3886200"/>
            <a:ext cx="2943151" cy="1866899"/>
          </a:xfrm>
          <a:prstGeom prst="roundRect">
            <a:avLst>
              <a:gd name="adj" fmla="val 8163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-350533" y="4770119"/>
            <a:ext cx="18668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258" y="4064317"/>
            <a:ext cx="228594" cy="1771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19149" y="4000500"/>
            <a:ext cx="2343091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Learning Challenge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397" y="4381499"/>
            <a:ext cx="2247843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Self-study (outside BI)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4397" y="4714875"/>
            <a:ext cx="2247843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No prior experience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4397" y="5048250"/>
            <a:ext cx="2247843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HTML structure study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90835" y="3886200"/>
            <a:ext cx="2943151" cy="1866899"/>
          </a:xfrm>
          <a:prstGeom prst="roundRect">
            <a:avLst>
              <a:gd name="adj" fmla="val 8163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2706916" y="4770119"/>
            <a:ext cx="18668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3706" y="4055745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076598" y="4000500"/>
            <a:ext cx="2343091" cy="6286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Restaurant Selection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1845" y="4705350"/>
            <a:ext cx="2247843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15 diverse restaurants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1845" y="5029200"/>
            <a:ext cx="2247843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Different review volumes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71845" y="5353049"/>
            <a:ext cx="2247843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Variety of cuisines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3386" y="5857875"/>
            <a:ext cx="6000599" cy="1162050"/>
          </a:xfrm>
          <a:prstGeom prst="roundRect">
            <a:avLst>
              <a:gd name="adj" fmla="val 13114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1891" y="6389370"/>
            <a:ext cx="11620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258" y="6061710"/>
            <a:ext cx="228594" cy="12572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19149" y="5972175"/>
            <a:ext cx="540053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Technical Implementation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4397" y="6362700"/>
            <a:ext cx="1657308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Dynamic loading (APIs)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43151" y="6362700"/>
            <a:ext cx="1657308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Request link per restaurant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1905" y="6362700"/>
            <a:ext cx="1657308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Branch ID mapping in code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34066" y="1143000"/>
            <a:ext cx="4590935" cy="5372100"/>
          </a:xfrm>
          <a:prstGeom prst="roundRect">
            <a:avLst>
              <a:gd name="adj" fmla="val 4979"/>
            </a:avLst>
          </a:prstGeom>
          <a:solidFill>
            <a:srgbClr val="37DCF2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448363" y="1257300"/>
            <a:ext cx="4362340" cy="514350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448363" y="5943600"/>
            <a:ext cx="4362340" cy="4572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62660" y="6057900"/>
            <a:ext cx="413374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</a:rPr>
              <a:t>Web Scraping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365750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Data Description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876299"/>
            <a:ext cx="5848203" cy="1171575"/>
          </a:xfrm>
          <a:prstGeom prst="roundRect">
            <a:avLst>
              <a:gd name="adj" fmla="val 13008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73327" y="1412556"/>
            <a:ext cx="11715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3406" y="971550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7703" y="1009649"/>
            <a:ext cx="11429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595" y="971550"/>
            <a:ext cx="517194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Raw Reviews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90595" y="1295399"/>
            <a:ext cx="1381090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90595" y="1295399"/>
            <a:ext cx="138109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restaurant_name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28834" y="1295399"/>
            <a:ext cx="1028674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28834" y="1295399"/>
            <a:ext cx="1028674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review_date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24181" y="1295399"/>
            <a:ext cx="971525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4181" y="1295399"/>
            <a:ext cx="971525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rating (1-5)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90595" y="1657350"/>
            <a:ext cx="2162120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90595" y="1657350"/>
            <a:ext cx="216212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review_text (Arabic/English)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2133599"/>
            <a:ext cx="5848203" cy="1171575"/>
          </a:xfrm>
          <a:prstGeom prst="roundRect">
            <a:avLst>
              <a:gd name="adj" fmla="val 13008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73327" y="2669856"/>
            <a:ext cx="11715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3406" y="2228850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7703" y="2247899"/>
            <a:ext cx="11429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0595" y="2228850"/>
            <a:ext cx="517194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Sentiment-Enriched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90595" y="2552700"/>
            <a:ext cx="1085822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90595" y="2552700"/>
            <a:ext cx="108582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cleaned_text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33566" y="2552700"/>
            <a:ext cx="1362040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33566" y="2552700"/>
            <a:ext cx="136204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model_star (1-5)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52756" y="2552700"/>
            <a:ext cx="1885902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52756" y="2552700"/>
            <a:ext cx="188590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model_confidence (0-1)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90595" y="2905124"/>
            <a:ext cx="1647783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90595" y="2905124"/>
            <a:ext cx="1647783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final_score (-1 to +1)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95527" y="2905124"/>
            <a:ext cx="1266793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95527" y="2905124"/>
            <a:ext cx="1266793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final_sentiment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19469" y="2905124"/>
            <a:ext cx="923901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19469" y="2905124"/>
            <a:ext cx="92390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top_words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9584" y="3371850"/>
            <a:ext cx="5848203" cy="819149"/>
          </a:xfrm>
          <a:prstGeom prst="roundRect">
            <a:avLst>
              <a:gd name="adj" fmla="val 18604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249540" y="3731894"/>
            <a:ext cx="81914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33406" y="3467100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7703" y="3505199"/>
            <a:ext cx="11429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90595" y="3467100"/>
            <a:ext cx="517194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Restaurant Insights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90595" y="3790949"/>
            <a:ext cx="2714557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90595" y="3790949"/>
            <a:ext cx="271455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top_problems (negative categories)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62300" y="3790949"/>
            <a:ext cx="1704932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962300" y="3790949"/>
            <a:ext cx="170493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top_positive_features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" y="4267199"/>
            <a:ext cx="5848203" cy="1628775"/>
          </a:xfrm>
          <a:prstGeom prst="roundRect">
            <a:avLst>
              <a:gd name="adj" fmla="val 9356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723881" y="4381499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8179" y="4410074"/>
            <a:ext cx="11429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1070" y="4381499"/>
            <a:ext cx="516242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Timeline Analysis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81070" y="4705350"/>
            <a:ext cx="1895427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81070" y="4705350"/>
            <a:ext cx="189542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year_month (YYYY-MM)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33646" y="4705350"/>
            <a:ext cx="1123921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133646" y="4705350"/>
            <a:ext cx="112392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review_count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14717" y="4705350"/>
            <a:ext cx="1285842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314717" y="4705350"/>
            <a:ext cx="128584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avg_final_score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81070" y="5067299"/>
            <a:ext cx="1323941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181070" y="5067299"/>
            <a:ext cx="132394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sentiment ratios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562160" y="5067299"/>
            <a:ext cx="1352516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562160" y="5067299"/>
            <a:ext cx="1352516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sentiment_event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81070" y="5438774"/>
            <a:ext cx="5162420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238219" y="5495924"/>
            <a:ext cx="504812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DCF2"/>
                </a:solidFill>
                <a:latin typeface="Roboto Flex"/>
              </a:rPr>
              <a:t>Threshold:</a:t>
            </a:r>
            <a:r>
              <a:rPr sz="956" b="0">
                <a:solidFill>
                  <a:srgbClr val="FFFFFF"/>
                </a:solidFill>
                <a:latin typeface="Roboto Flex"/>
              </a:rPr>
              <a:t> Minimum 10 reviews/month for statistical reliability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9584" y="5972175"/>
            <a:ext cx="5848203" cy="819149"/>
          </a:xfrm>
          <a:prstGeom prst="roundRect">
            <a:avLst>
              <a:gd name="adj" fmla="val 18604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 Same Side Corner Rectangle 58"/>
          <p:cNvSpPr/>
          <p:nvPr/>
        </p:nvSpPr>
        <p:spPr>
          <a:xfrm rot="16200000">
            <a:off x="249540" y="6332219"/>
            <a:ext cx="81914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33406" y="6067424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47703" y="6095999"/>
            <a:ext cx="11429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90595" y="6067424"/>
            <a:ext cx="517194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Problem Timeline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190595" y="6391275"/>
            <a:ext cx="1476338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90595" y="6391275"/>
            <a:ext cx="147633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detected_problem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724081" y="6391275"/>
            <a:ext cx="1257268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724081" y="6391275"/>
            <a:ext cx="125726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problem_count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38499" y="6391275"/>
            <a:ext cx="1657308" cy="3048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038499" y="6391275"/>
            <a:ext cx="165730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problem_percentage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34066" y="1143000"/>
            <a:ext cx="4590935" cy="5372100"/>
          </a:xfrm>
          <a:prstGeom prst="roundRect">
            <a:avLst>
              <a:gd name="adj" fmla="val 4979"/>
            </a:avLst>
          </a:prstGeom>
          <a:solidFill>
            <a:srgbClr val="37DCF2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7448363" y="1257300"/>
            <a:ext cx="4362340" cy="5143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7448363" y="5943600"/>
            <a:ext cx="4362340" cy="4572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562660" y="6057900"/>
            <a:ext cx="413374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</a:rPr>
              <a:t>Interactive Power BI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69853" y="1238249"/>
            <a:ext cx="685782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FFFFFF"/>
                </a:solidFill>
                <a:latin typeface="Source Code Pro"/>
              </a:rPr>
              <a:t>Data Cleaning &amp; Transformation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-3209925"/>
            <a:ext cx="5848203" cy="1209674"/>
          </a:xfrm>
          <a:prstGeom prst="roundRect">
            <a:avLst>
              <a:gd name="adj" fmla="val 12598"/>
            </a:avLst>
          </a:prstGeom>
          <a:solidFill>
            <a:srgbClr val="37DCF2">
              <a:alpha val="10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2931" y="-2708909"/>
            <a:ext cx="228594" cy="2171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3786" y="-2679052"/>
            <a:ext cx="285742" cy="15745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9584" y="-1885950"/>
            <a:ext cx="5848203" cy="1314450"/>
          </a:xfrm>
          <a:prstGeom prst="roundRect">
            <a:avLst>
              <a:gd name="adj" fmla="val 11594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1889" y="-1278255"/>
            <a:ext cx="13144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56" y="-1696402"/>
            <a:ext cx="228594" cy="1543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095347" y="-1381124"/>
            <a:ext cx="1257268" cy="695325"/>
          </a:xfrm>
          <a:prstGeom prst="roundRect">
            <a:avLst>
              <a:gd name="adj" fmla="val 1095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428814" y="-1381124"/>
            <a:ext cx="1257268" cy="695325"/>
          </a:xfrm>
          <a:prstGeom prst="roundRect">
            <a:avLst>
              <a:gd name="adj" fmla="val 1095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62280" y="-1381124"/>
            <a:ext cx="1257268" cy="695325"/>
          </a:xfrm>
          <a:prstGeom prst="roundRect">
            <a:avLst>
              <a:gd name="adj" fmla="val 1095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95747" y="-1381124"/>
            <a:ext cx="1257268" cy="695325"/>
          </a:xfrm>
          <a:prstGeom prst="roundRect">
            <a:avLst>
              <a:gd name="adj" fmla="val 1095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01773" y="903645"/>
            <a:ext cx="5848203" cy="1314450"/>
          </a:xfrm>
          <a:prstGeom prst="roundRect">
            <a:avLst>
              <a:gd name="adj" fmla="val 11594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3670421" y="807720"/>
            <a:ext cx="13144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8922" y="495299"/>
            <a:ext cx="228594" cy="19430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648083" y="2019914"/>
            <a:ext cx="1695407" cy="695325"/>
          </a:xfrm>
          <a:prstGeom prst="roundRect">
            <a:avLst>
              <a:gd name="adj" fmla="val 1095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10004" y="2190441"/>
            <a:ext cx="1543011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Arabic 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3360" y="2574053"/>
            <a:ext cx="1695407" cy="695325"/>
          </a:xfrm>
          <a:prstGeom prst="roundRect">
            <a:avLst>
              <a:gd name="adj" fmla="val 1095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6615626" y="2650252"/>
            <a:ext cx="1543011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 dirty="0">
                <a:solidFill>
                  <a:srgbClr val="FFFFFF"/>
                </a:solidFill>
                <a:latin typeface="Roboto Flex"/>
              </a:rPr>
              <a:t>Post-sentiment translation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04439" y="2038041"/>
            <a:ext cx="1695407" cy="695325"/>
          </a:xfrm>
          <a:prstGeom prst="roundRect">
            <a:avLst>
              <a:gd name="adj" fmla="val 1095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56835" y="2241462"/>
            <a:ext cx="1543011" cy="3170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36" b="0" dirty="0" err="1">
                <a:solidFill>
                  <a:srgbClr val="FFFFFF"/>
                </a:solidFill>
                <a:latin typeface="Roboto Flex"/>
              </a:rPr>
              <a:t>S</a:t>
            </a:r>
            <a:r>
              <a:rPr sz="1136" b="0" dirty="0" err="1">
                <a:solidFill>
                  <a:srgbClr val="FFFFFF"/>
                </a:solidFill>
                <a:latin typeface="Roboto Flex"/>
              </a:rPr>
              <a:t>topword</a:t>
            </a:r>
            <a:r>
              <a:rPr lang="en-US" sz="1136" b="0" dirty="0" err="1">
                <a:solidFill>
                  <a:srgbClr val="FFFFFF"/>
                </a:solidFill>
                <a:latin typeface="Roboto Flex"/>
              </a:rPr>
              <a:t>s</a:t>
            </a:r>
            <a:r>
              <a:rPr lang="en-US" sz="1136" b="0" dirty="0">
                <a:solidFill>
                  <a:srgbClr val="FFFFFF"/>
                </a:solidFill>
                <a:latin typeface="Roboto Flex"/>
              </a:rPr>
              <a:t> removal</a:t>
            </a:r>
            <a:endParaRPr sz="1136" b="0" dirty="0">
              <a:solidFill>
                <a:srgbClr val="FFFFFF"/>
              </a:solidFill>
              <a:latin typeface="Roboto Flex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09584" y="903645"/>
            <a:ext cx="2866953" cy="4305300"/>
          </a:xfrm>
          <a:prstGeom prst="roundRect">
            <a:avLst>
              <a:gd name="adj" fmla="val 5315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-1493536" y="3074670"/>
            <a:ext cx="43053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2456" y="1149667"/>
            <a:ext cx="228594" cy="17716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95347" y="1085850"/>
            <a:ext cx="2266893" cy="6286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Feature Engineering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5347" y="1790700"/>
            <a:ext cx="1095347" cy="695325"/>
          </a:xfrm>
          <a:prstGeom prst="roundRect">
            <a:avLst>
              <a:gd name="adj" fmla="val 1095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71545" y="1866899"/>
            <a:ext cx="942951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Cleaned text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66893" y="1790700"/>
            <a:ext cx="1095347" cy="695325"/>
          </a:xfrm>
          <a:prstGeom prst="roundRect">
            <a:avLst>
              <a:gd name="adj" fmla="val 1095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343091" y="1866899"/>
            <a:ext cx="942951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Model predictions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5347" y="2562224"/>
            <a:ext cx="1095347" cy="695325"/>
          </a:xfrm>
          <a:prstGeom prst="roundRect">
            <a:avLst>
              <a:gd name="adj" fmla="val 1095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71545" y="2638425"/>
            <a:ext cx="942951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Confidence scores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66893" y="2562224"/>
            <a:ext cx="1095347" cy="695325"/>
          </a:xfrm>
          <a:prstGeom prst="roundRect">
            <a:avLst>
              <a:gd name="adj" fmla="val 1095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43091" y="2638425"/>
            <a:ext cx="942951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Final score (70/30)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2456" y="3257550"/>
            <a:ext cx="2609784" cy="1904999"/>
          </a:xfrm>
          <a:prstGeom prst="roundRect">
            <a:avLst>
              <a:gd name="adj" fmla="val 8000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-150513" y="4160519"/>
            <a:ext cx="19049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5327" y="3427095"/>
            <a:ext cx="228594" cy="19430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38219" y="3371850"/>
            <a:ext cx="2009724" cy="6286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Temporal Aggregation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38219" y="4076699"/>
            <a:ext cx="619109" cy="971550"/>
          </a:xfrm>
          <a:prstGeom prst="roundRect">
            <a:avLst>
              <a:gd name="adj" fmla="val 1230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14417" y="4152899"/>
            <a:ext cx="466713" cy="819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 dirty="0">
                <a:solidFill>
                  <a:srgbClr val="FFFFFF"/>
                </a:solidFill>
                <a:latin typeface="Roboto Flex"/>
              </a:rPr>
              <a:t>Year-month format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33526" y="4076699"/>
            <a:ext cx="619109" cy="971550"/>
          </a:xfrm>
          <a:prstGeom prst="roundRect">
            <a:avLst>
              <a:gd name="adj" fmla="val 1230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009724" y="4152899"/>
            <a:ext cx="466713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Monthly metrics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28834" y="4076699"/>
            <a:ext cx="619109" cy="971550"/>
          </a:xfrm>
          <a:prstGeom prst="roundRect">
            <a:avLst>
              <a:gd name="adj" fmla="val 1230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05032" y="4152899"/>
            <a:ext cx="466713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Change detection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95786" y="3701535"/>
            <a:ext cx="4969510" cy="2946757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990575" y="9963149"/>
            <a:ext cx="1695407" cy="6858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-171450"/>
            <a:ext cx="10972525" cy="11430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Multilingual Challenges &amp; Language Standardization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914400"/>
            <a:ext cx="5848203" cy="1581149"/>
          </a:xfrm>
          <a:prstGeom prst="roundRect">
            <a:avLst>
              <a:gd name="adj" fmla="val 9638"/>
            </a:avLst>
          </a:prstGeom>
          <a:solidFill>
            <a:srgbClr val="FF646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131460" y="1655444"/>
            <a:ext cx="158114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0555" y="1121617"/>
            <a:ext cx="285742" cy="2332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90595" y="1066799"/>
            <a:ext cx="511479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87171"/>
                </a:solidFill>
                <a:latin typeface="Source Code Pro"/>
              </a:rPr>
              <a:t>The Challenge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90595" y="1562100"/>
            <a:ext cx="28574" cy="57150"/>
          </a:xfrm>
          <a:prstGeom prst="roundRect">
            <a:avLst>
              <a:gd name="adj" fmla="val 66660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5367" y="1485900"/>
            <a:ext cx="2419289" cy="8572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Same issues in different languages treated as different topics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0855" y="1562100"/>
            <a:ext cx="47623" cy="57150"/>
          </a:xfrm>
          <a:prstGeom prst="roundRect">
            <a:avLst>
              <a:gd name="adj" fmla="val 39996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14677" y="1485900"/>
            <a:ext cx="2400239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Fragmented results reducing clarity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2609850"/>
            <a:ext cx="5848203" cy="1295399"/>
          </a:xfrm>
          <a:prstGeom prst="roundRect">
            <a:avLst>
              <a:gd name="adj" fmla="val 11764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11415" y="3208019"/>
            <a:ext cx="12953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55" y="2811235"/>
            <a:ext cx="285742" cy="244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90595" y="2762249"/>
            <a:ext cx="511479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</a:rPr>
              <a:t>The Solution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90595" y="3257550"/>
            <a:ext cx="38099" cy="57150"/>
          </a:xfrm>
          <a:prstGeom prst="roundRect">
            <a:avLst>
              <a:gd name="adj" fmla="val 49995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04892" y="3181350"/>
            <a:ext cx="2409764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Translate to English </a:t>
            </a:r>
            <a:r>
              <a:rPr sz="1196" b="1">
                <a:solidFill>
                  <a:srgbClr val="37DCF2"/>
                </a:solidFill>
                <a:latin typeface="Roboto Flex"/>
              </a:rPr>
              <a:t>after</a:t>
            </a:r>
            <a:r>
              <a:rPr sz="1196" b="0">
                <a:solidFill>
                  <a:srgbClr val="FFFFFF"/>
                </a:solidFill>
                <a:latin typeface="Roboto Flex"/>
              </a:rPr>
              <a:t> sentiment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0855" y="32575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24201" y="3181350"/>
            <a:ext cx="2390715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Unify dataset for consistency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4019549"/>
            <a:ext cx="5848203" cy="1295399"/>
          </a:xfrm>
          <a:prstGeom prst="roundRect">
            <a:avLst>
              <a:gd name="adj" fmla="val 11764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11415" y="4617718"/>
            <a:ext cx="12953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555" y="4226767"/>
            <a:ext cx="285742" cy="23326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90595" y="4171950"/>
            <a:ext cx="511479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</a:rPr>
              <a:t>Benefits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5842" y="4591050"/>
            <a:ext cx="1562060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Consistent semantic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9349" y="4591050"/>
            <a:ext cx="1562060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Cleaner visualizations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2856" y="4591050"/>
            <a:ext cx="156206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Unified categories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584" y="5429250"/>
            <a:ext cx="1876378" cy="1314450"/>
          </a:xfrm>
          <a:prstGeom prst="roundRect">
            <a:avLst>
              <a:gd name="adj" fmla="val 1159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406" y="5729007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00099" y="5562600"/>
            <a:ext cx="1362040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</a:rPr>
              <a:t>Stopword Lists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406" y="6115050"/>
            <a:ext cx="1628734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Custom Arabic list + English removal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00259" y="5429250"/>
            <a:ext cx="1876378" cy="1314450"/>
          </a:xfrm>
          <a:prstGeom prst="roundRect">
            <a:avLst>
              <a:gd name="adj" fmla="val 1159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24081" y="5729007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990775" y="5562600"/>
            <a:ext cx="1362040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</a:rPr>
              <a:t>Sentence Splitting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24081" y="6115050"/>
            <a:ext cx="1628734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Granular analysis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90935" y="5429250"/>
            <a:ext cx="1876378" cy="1314450"/>
          </a:xfrm>
          <a:prstGeom prst="roundRect">
            <a:avLst>
              <a:gd name="adj" fmla="val 1159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14757" y="5642722"/>
            <a:ext cx="190495" cy="10645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981450" y="5562600"/>
            <a:ext cx="61910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</a:rPr>
              <a:t>Timing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14757" y="5867399"/>
            <a:ext cx="1628734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Post-sentiment translation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34066" y="1143000"/>
            <a:ext cx="4590935" cy="5372100"/>
          </a:xfrm>
          <a:prstGeom prst="roundRect">
            <a:avLst>
              <a:gd name="adj" fmla="val 4979"/>
            </a:avLst>
          </a:prstGeom>
          <a:solidFill>
            <a:srgbClr val="37DCF2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448363" y="1257300"/>
            <a:ext cx="4362340" cy="5143500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448363" y="5943600"/>
            <a:ext cx="4362340" cy="4572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62660" y="6057900"/>
            <a:ext cx="413374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</a:rPr>
              <a:t>Arabic &amp; English Processing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2846"/>
            <a:ext cx="937236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FFFFFF"/>
                </a:solidFill>
                <a:latin typeface="Source Code Pro"/>
              </a:rPr>
              <a:t>Advanced Analytics &amp; AI Modeling Overview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9370" y="663310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377" y="483163"/>
            <a:ext cx="490525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 dirty="0">
                <a:solidFill>
                  <a:srgbClr val="37DCF2"/>
                </a:solidFill>
                <a:latin typeface="Source Code Pro"/>
              </a:rPr>
              <a:t>Multi-Stage AI Modeling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476" y="828675"/>
            <a:ext cx="550531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FFFFFF"/>
                </a:solidFill>
                <a:latin typeface="Roboto Flex"/>
              </a:rPr>
              <a:t>Five specialized models for comprehensive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1162050"/>
            <a:ext cx="5848203" cy="1019174"/>
          </a:xfrm>
          <a:prstGeom prst="roundRect">
            <a:avLst>
              <a:gd name="adj" fmla="val 14953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149527" y="1622107"/>
            <a:ext cx="101917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3406" y="1504950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7703" y="1523999"/>
            <a:ext cx="11429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0595" y="1257300"/>
            <a:ext cx="517194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</a:rPr>
              <a:t>Multilingual Transformer-Based Sentiment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0595" y="1828800"/>
            <a:ext cx="5171945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BERT model for sentiment prediction with confidence scores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2276474"/>
            <a:ext cx="5848203" cy="733424"/>
          </a:xfrm>
          <a:prstGeom prst="roundRect">
            <a:avLst>
              <a:gd name="adj" fmla="val 20779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292402" y="2593656"/>
            <a:ext cx="73342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3406" y="2476499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703" y="2495550"/>
            <a:ext cx="11429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0595" y="2371725"/>
            <a:ext cx="517194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</a:rPr>
              <a:t>Hybrid Sentiment Scoring &amp; Weighted Ensemble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595" y="2657475"/>
            <a:ext cx="5171945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Combining NLP predictions (70%) and user ratings (30%)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" y="3105149"/>
            <a:ext cx="5848203" cy="990599"/>
          </a:xfrm>
          <a:prstGeom prst="roundRect">
            <a:avLst>
              <a:gd name="adj" fmla="val 15384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163815" y="3550918"/>
            <a:ext cx="9905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3406" y="3429000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7703" y="3457575"/>
            <a:ext cx="11429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0595" y="3200400"/>
            <a:ext cx="517194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</a:rPr>
              <a:t>Semantic Similarity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0595" y="3486150"/>
            <a:ext cx="5171945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Extract problems and strengths using sentence embeddings and cosine similarity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584" y="4190999"/>
            <a:ext cx="5848203" cy="990599"/>
          </a:xfrm>
          <a:prstGeom prst="roundRect">
            <a:avLst>
              <a:gd name="adj" fmla="val 15384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163815" y="4636768"/>
            <a:ext cx="9905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33406" y="4514850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7703" y="4543425"/>
            <a:ext cx="11429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0595" y="4286250"/>
            <a:ext cx="517194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</a:rPr>
              <a:t>Temporal Sentiment Analysis &amp; Event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0595" y="4572000"/>
            <a:ext cx="5171945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Track sentiment trends over time with spike (+15%) and drop (-15%) detection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584" y="5276850"/>
            <a:ext cx="5848203" cy="1276350"/>
          </a:xfrm>
          <a:prstGeom prst="roundRect">
            <a:avLst>
              <a:gd name="adj" fmla="val 11940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20939" y="5865495"/>
            <a:ext cx="12763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33406" y="5743575"/>
            <a:ext cx="342891" cy="342900"/>
          </a:xfrm>
          <a:prstGeom prst="roundRect">
            <a:avLst>
              <a:gd name="adj" fmla="val 5555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7703" y="5772150"/>
            <a:ext cx="11429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90595" y="5372100"/>
            <a:ext cx="517194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</a:rPr>
              <a:t>Zero-Shot Classification for Monthly Problem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90595" y="5943600"/>
            <a:ext cx="5171945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Identify specific problems from negative reviews without training 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376" y="6415087"/>
            <a:ext cx="6305391" cy="371475"/>
          </a:xfrm>
          <a:prstGeom prst="roundRect">
            <a:avLst>
              <a:gd name="adj" fmla="val 21052"/>
            </a:avLst>
          </a:prstGeom>
          <a:solidFill>
            <a:srgbClr val="37DCF2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944" y="6642842"/>
            <a:ext cx="171445" cy="14932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13436" y="6447846"/>
            <a:ext cx="6434927" cy="3160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Roboto Flex"/>
              </a:rPr>
              <a:t>Each model serves a specific analytical purpose rather than single algorithm approach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34066" y="1143000"/>
            <a:ext cx="4590935" cy="5372100"/>
          </a:xfrm>
          <a:prstGeom prst="roundRect">
            <a:avLst>
              <a:gd name="adj" fmla="val 4979"/>
            </a:avLst>
          </a:prstGeom>
          <a:solidFill>
            <a:srgbClr val="37DCF2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448363" y="1257300"/>
            <a:ext cx="4362340" cy="51435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448363" y="5943600"/>
            <a:ext cx="4362340" cy="4572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62660" y="6057900"/>
            <a:ext cx="413374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</a:rPr>
              <a:t>BERT Transformer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754361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Model 1: Sentiment Classification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4587" y="1538439"/>
            <a:ext cx="4368054" cy="528791"/>
          </a:xfrm>
          <a:prstGeom prst="roundRect">
            <a:avLst>
              <a:gd name="adj" fmla="val 13445"/>
            </a:avLst>
          </a:prstGeom>
          <a:solidFill>
            <a:srgbClr val="37DCF2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8916" y="929166"/>
            <a:ext cx="470708" cy="3648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7247" y="803573"/>
            <a:ext cx="5302990" cy="35952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37DCF2"/>
                </a:solidFill>
                <a:latin typeface="Source Code Pro"/>
              </a:rPr>
              <a:t>nlptown</a:t>
            </a:r>
            <a:r>
              <a:rPr sz="1400" b="1" dirty="0">
                <a:solidFill>
                  <a:srgbClr val="37DCF2"/>
                </a:solidFill>
                <a:latin typeface="Source Code Pro"/>
              </a:rPr>
              <a:t>/</a:t>
            </a:r>
            <a:r>
              <a:rPr sz="1400" b="1" dirty="0" err="1">
                <a:solidFill>
                  <a:srgbClr val="37DCF2"/>
                </a:solidFill>
                <a:latin typeface="Source Code Pro"/>
              </a:rPr>
              <a:t>bert</a:t>
            </a:r>
            <a:r>
              <a:rPr sz="1400" b="1" dirty="0">
                <a:solidFill>
                  <a:srgbClr val="37DCF2"/>
                </a:solidFill>
                <a:latin typeface="Source Code Pro"/>
              </a:rPr>
              <a:t>-base-multilingual-uncased-sentiment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1545" y="1591597"/>
            <a:ext cx="525766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Hugging Face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2190749"/>
            <a:ext cx="5848203" cy="1495424"/>
          </a:xfrm>
          <a:prstGeom prst="roundRect">
            <a:avLst>
              <a:gd name="adj" fmla="val 10191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-88598" y="2888931"/>
            <a:ext cx="149542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56" y="2368867"/>
            <a:ext cx="228594" cy="1771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5347" y="2305049"/>
            <a:ext cx="52481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BERT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0595" y="2695575"/>
            <a:ext cx="1162020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1. Tokenization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4061" y="2695575"/>
            <a:ext cx="1162020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2. 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7528" y="2695575"/>
            <a:ext cx="1162020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3. Self-Attention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0995" y="2695575"/>
            <a:ext cx="1162020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4. Positional 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347" y="3314700"/>
            <a:ext cx="2590735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• Numerical representations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2280" y="3314700"/>
            <a:ext cx="2590735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• Weights based on importance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3781424"/>
            <a:ext cx="5848203" cy="1514475"/>
          </a:xfrm>
          <a:prstGeom prst="roundRect">
            <a:avLst>
              <a:gd name="adj" fmla="val 10062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-98123" y="4489131"/>
            <a:ext cx="15144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56" y="3945255"/>
            <a:ext cx="228594" cy="2057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5347" y="3895724"/>
            <a:ext cx="52481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Model Advantages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0595" y="4286250"/>
            <a:ext cx="2495487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Understands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7528" y="4286250"/>
            <a:ext cx="2495487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Semantics from both directions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0595" y="4905375"/>
            <a:ext cx="2495487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Processes simultaneously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7528" y="4905375"/>
            <a:ext cx="2495487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Understands sentence order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584" y="5391150"/>
            <a:ext cx="5848203" cy="1314450"/>
          </a:xfrm>
          <a:prstGeom prst="roundRect">
            <a:avLst>
              <a:gd name="adj" fmla="val 11594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1889" y="5998845"/>
            <a:ext cx="13144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456" y="5569267"/>
            <a:ext cx="228594" cy="1771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95347" y="5505450"/>
            <a:ext cx="52481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Output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5347" y="5895974"/>
            <a:ext cx="1695407" cy="695325"/>
          </a:xfrm>
          <a:prstGeom prst="roundRect">
            <a:avLst>
              <a:gd name="adj" fmla="val 1095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71545" y="5972175"/>
            <a:ext cx="1543011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1-5 Star Scale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66953" y="5895974"/>
            <a:ext cx="1695407" cy="695325"/>
          </a:xfrm>
          <a:prstGeom prst="roundRect">
            <a:avLst>
              <a:gd name="adj" fmla="val 1095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43151" y="5972175"/>
            <a:ext cx="1543011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Different sentiment levels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48083" y="5895974"/>
            <a:ext cx="1695407" cy="695325"/>
          </a:xfrm>
          <a:prstGeom prst="roundRect">
            <a:avLst>
              <a:gd name="adj" fmla="val 1095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24281" y="5972175"/>
            <a:ext cx="1543011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Matches original ratings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34066" y="1143000"/>
            <a:ext cx="4590935" cy="5372100"/>
          </a:xfrm>
          <a:prstGeom prst="roundRect">
            <a:avLst>
              <a:gd name="adj" fmla="val 4979"/>
            </a:avLst>
          </a:prstGeom>
          <a:solidFill>
            <a:srgbClr val="37DCF2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448363" y="1257300"/>
            <a:ext cx="4362340" cy="51435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448363" y="5943600"/>
            <a:ext cx="4362340" cy="4572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62660" y="6057900"/>
            <a:ext cx="413374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</a:rPr>
              <a:t>BERT Self-Attention Mechanism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525766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Model 2: Hybrid Scoring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066799"/>
            <a:ext cx="5848203" cy="895350"/>
          </a:xfrm>
          <a:prstGeom prst="roundRect">
            <a:avLst>
              <a:gd name="adj" fmla="val 17021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211439" y="1464944"/>
            <a:ext cx="8953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2456" y="1236345"/>
            <a:ext cx="228594" cy="1943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5347" y="1181099"/>
            <a:ext cx="52481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595" y="1571625"/>
            <a:ext cx="2495487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Ratings alone can be biased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7528" y="1571625"/>
            <a:ext cx="2495487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NLP may misinterpret intent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" y="2047874"/>
            <a:ext cx="5848203" cy="1838324"/>
          </a:xfrm>
          <a:prstGeom prst="roundRect">
            <a:avLst>
              <a:gd name="adj" fmla="val 8290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-260048" y="2917506"/>
            <a:ext cx="183832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56" y="2221706"/>
            <a:ext cx="228594" cy="1857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5347" y="2162174"/>
            <a:ext cx="52481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Weighting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47" y="2609850"/>
            <a:ext cx="189542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 Flex"/>
              </a:rPr>
              <a:t>NLP Model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5072" y="2552700"/>
            <a:ext cx="552436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7DCF2"/>
                </a:solidFill>
                <a:latin typeface="Roboto Flex"/>
              </a:rPr>
              <a:t>70%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5347" y="3028950"/>
            <a:ext cx="5248143" cy="76200"/>
          </a:xfrm>
          <a:prstGeom prst="roundRect">
            <a:avLst>
              <a:gd name="adj" fmla="val 249975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95347" y="3028950"/>
            <a:ext cx="367655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5347" y="3276599"/>
            <a:ext cx="175255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 Flex"/>
              </a:rPr>
              <a:t>Original User Rating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200" y="3219449"/>
            <a:ext cx="552436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7DCF2"/>
                </a:solidFill>
                <a:latin typeface="Roboto Flex"/>
              </a:rPr>
              <a:t>30%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5347" y="3695699"/>
            <a:ext cx="5248143" cy="76200"/>
          </a:xfrm>
          <a:prstGeom prst="roundRect">
            <a:avLst>
              <a:gd name="adj" fmla="val 249975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95347" y="3695699"/>
            <a:ext cx="1571585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881138" y="4093512"/>
            <a:ext cx="5020031" cy="495297"/>
          </a:xfrm>
          <a:prstGeom prst="roundRect">
            <a:avLst>
              <a:gd name="adj" fmla="val 18604"/>
            </a:avLst>
          </a:prstGeom>
          <a:solidFill>
            <a:srgbClr val="37DCF2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761" y="4198802"/>
            <a:ext cx="228594" cy="2057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2456" y="4129670"/>
            <a:ext cx="6247775" cy="34400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37DCF2"/>
                </a:solidFill>
                <a:latin typeface="Roboto Flex"/>
              </a:rPr>
              <a:t>Key Benefit:</a:t>
            </a:r>
            <a:r>
              <a:rPr sz="1400" b="0" dirty="0">
                <a:solidFill>
                  <a:srgbClr val="FFFFFF"/>
                </a:solidFill>
                <a:latin typeface="Roboto Flex"/>
              </a:rPr>
              <a:t> 30% rating reduces misclassification &amp; gives better accuracy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584" y="4895849"/>
            <a:ext cx="2876478" cy="1704975"/>
          </a:xfrm>
          <a:prstGeom prst="roundRect">
            <a:avLst>
              <a:gd name="adj" fmla="val 8938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-193373" y="5698806"/>
            <a:ext cx="17049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456" y="5077385"/>
            <a:ext cx="190495" cy="15127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19149" y="5010149"/>
            <a:ext cx="68578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456" y="5372100"/>
            <a:ext cx="2619309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Continuous score (-1 to +1)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2456" y="5470779"/>
            <a:ext cx="133346" cy="6934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2456" y="5705475"/>
            <a:ext cx="2619309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39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Positive / Negative / Neutral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2456" y="5804154"/>
            <a:ext cx="133346" cy="69342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3581310" y="4895849"/>
            <a:ext cx="2876478" cy="1704975"/>
          </a:xfrm>
          <a:prstGeom prst="roundRect">
            <a:avLst>
              <a:gd name="adj" fmla="val 8938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2778353" y="5698806"/>
            <a:ext cx="17049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24181" y="5074583"/>
            <a:ext cx="190495" cy="15688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990875" y="5010149"/>
            <a:ext cx="182875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87171"/>
                </a:solidFill>
                <a:latin typeface="Source Code Pro"/>
              </a:rPr>
              <a:t>Not Enough Alone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24181" y="5372100"/>
            <a:ext cx="2619309" cy="11144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Need to transform to useful insights: complaints, satisfaction/ dissatisfaction, strengths &amp; weaknesses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34066" y="1143000"/>
            <a:ext cx="4590935" cy="5372100"/>
          </a:xfrm>
          <a:prstGeom prst="roundRect">
            <a:avLst>
              <a:gd name="adj" fmla="val 4979"/>
            </a:avLst>
          </a:prstGeom>
          <a:solidFill>
            <a:srgbClr val="37DCF2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448363" y="1257300"/>
            <a:ext cx="4362340" cy="5143500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448363" y="5943600"/>
            <a:ext cx="4362340" cy="4572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62660" y="6057900"/>
            <a:ext cx="413374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</a:rPr>
              <a:t>Sentiment Scoring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640063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Model 3: Semantic Similarity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452524"/>
            <a:ext cx="5695807" cy="478836"/>
          </a:xfrm>
          <a:prstGeom prst="roundRect">
            <a:avLst>
              <a:gd name="adj" fmla="val 18604"/>
            </a:avLst>
          </a:prstGeom>
          <a:solidFill>
            <a:srgbClr val="37DCF2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4832" y="938264"/>
            <a:ext cx="228594" cy="2228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9149" y="847160"/>
            <a:ext cx="4800480" cy="35670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 dirty="0">
                <a:solidFill>
                  <a:srgbClr val="37DCF2"/>
                </a:solidFill>
                <a:latin typeface="Source Code Pro"/>
              </a:rPr>
              <a:t>paraphrase-multilingual-MiniLM-L12-v2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298" y="1581149"/>
            <a:ext cx="4648083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SentenceTransformer • Hugging 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2057400"/>
            <a:ext cx="5848203" cy="1619250"/>
          </a:xfrm>
          <a:prstGeom prst="roundRect">
            <a:avLst>
              <a:gd name="adj" fmla="val 9411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-150511" y="2817495"/>
            <a:ext cx="16192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56" y="2252662"/>
            <a:ext cx="228594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5347" y="2171700"/>
            <a:ext cx="52481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Key Advantage: Cosine Similarity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5347" y="2571750"/>
            <a:ext cx="2590735" cy="1000125"/>
          </a:xfrm>
          <a:prstGeom prst="roundRect">
            <a:avLst>
              <a:gd name="adj" fmla="val 7619"/>
            </a:avLst>
          </a:prstGeom>
          <a:solidFill>
            <a:srgbClr val="37DCF2">
              <a:alpha val="8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1070" y="2716161"/>
            <a:ext cx="171445" cy="1493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09664" y="2647949"/>
            <a:ext cx="990575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FFFFFF"/>
                </a:solidFill>
                <a:latin typeface="Roboto Flex"/>
              </a:rPr>
              <a:t>Our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070" y="2962274"/>
            <a:ext cx="2419289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Sees similarity between two items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62280" y="2571750"/>
            <a:ext cx="2590735" cy="1000125"/>
          </a:xfrm>
          <a:prstGeom prst="roundRect">
            <a:avLst>
              <a:gd name="adj" fmla="val 7619"/>
            </a:avLst>
          </a:prstGeom>
          <a:solidFill>
            <a:srgbClr val="7F1D1D">
              <a:alpha val="20000"/>
            </a:srgbClr>
          </a:solidFill>
          <a:ln w="825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48003" y="2735518"/>
            <a:ext cx="171445" cy="1106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076598" y="2647949"/>
            <a:ext cx="885802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FFFFFF"/>
                </a:solidFill>
                <a:latin typeface="Roboto Flex"/>
              </a:rPr>
              <a:t>Traditional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8003" y="2962274"/>
            <a:ext cx="241928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Keyword matching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3771900"/>
            <a:ext cx="5848203" cy="1133475"/>
          </a:xfrm>
          <a:prstGeom prst="roundRect">
            <a:avLst>
              <a:gd name="adj" fmla="val 13445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92377" y="4289107"/>
            <a:ext cx="11334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2456" y="3950017"/>
            <a:ext cx="228594" cy="1771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5347" y="3886200"/>
            <a:ext cx="52481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0595" y="4276725"/>
            <a:ext cx="1171545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Translate to English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537" y="4276725"/>
            <a:ext cx="1171545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Split sentences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8003" y="4276725"/>
            <a:ext cx="1171545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Sentence embeddings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1945" y="4276725"/>
            <a:ext cx="1171545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Cosine similarity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584" y="5000625"/>
            <a:ext cx="2876478" cy="1523999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-102885" y="5713094"/>
            <a:ext cx="15239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2456" y="5184961"/>
            <a:ext cx="190495" cy="1456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19149" y="5114925"/>
            <a:ext cx="80007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456" y="5476875"/>
            <a:ext cx="2619309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36" b="0">
                <a:solidFill>
                  <a:srgbClr val="F87171"/>
                </a:solidFill>
                <a:latin typeface="Roboto Flex"/>
              </a:rPr>
              <a:t>Negative: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Top problems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2456" y="5575554"/>
            <a:ext cx="133346" cy="6934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52456" y="5810249"/>
            <a:ext cx="2619309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39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36" b="0">
                <a:solidFill>
                  <a:srgbClr val="4ADE80"/>
                </a:solidFill>
                <a:latin typeface="Roboto Flex"/>
              </a:rPr>
              <a:t>Positive: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Top features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2456" y="5908929"/>
            <a:ext cx="133346" cy="6934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52456" y="6134100"/>
            <a:ext cx="2619309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39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Percentage contributions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2456" y="6232779"/>
            <a:ext cx="133346" cy="69342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3581310" y="5000625"/>
            <a:ext cx="2876478" cy="1523999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2868841" y="5713094"/>
            <a:ext cx="15239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24181" y="5168152"/>
            <a:ext cx="190495" cy="17929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990875" y="5114925"/>
            <a:ext cx="182875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Semantic Benefit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24181" y="5476875"/>
            <a:ext cx="2619309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Understands meaning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24181" y="5575554"/>
            <a:ext cx="133346" cy="6934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724181" y="5810249"/>
            <a:ext cx="2619309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39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Beyond exact wording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24181" y="5908929"/>
            <a:ext cx="133346" cy="6934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724181" y="6134100"/>
            <a:ext cx="2619309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39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Contextual matching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24181" y="6232779"/>
            <a:ext cx="133346" cy="69342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7334066" y="1143000"/>
            <a:ext cx="4590935" cy="5372100"/>
          </a:xfrm>
          <a:prstGeom prst="roundRect">
            <a:avLst>
              <a:gd name="adj" fmla="val 4979"/>
            </a:avLst>
          </a:prstGeom>
          <a:solidFill>
            <a:srgbClr val="37DCF2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448363" y="1257300"/>
            <a:ext cx="4362340" cy="5143500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448363" y="5943600"/>
            <a:ext cx="4362340" cy="4572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562660" y="6057900"/>
            <a:ext cx="413374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</a:rPr>
              <a:t>Cosine Similarity Visualization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594345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Model 4: Temporal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819149"/>
            <a:ext cx="5848203" cy="1238249"/>
          </a:xfrm>
          <a:prstGeom prst="roundRect">
            <a:avLst>
              <a:gd name="adj" fmla="val 12307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39990" y="1388743"/>
            <a:ext cx="123824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2456" y="988694"/>
            <a:ext cx="228594" cy="1943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5347" y="933449"/>
            <a:ext cx="52481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Why Temporal Analysis?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595" y="1303550"/>
            <a:ext cx="1622495" cy="317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36" dirty="0">
                <a:solidFill>
                  <a:srgbClr val="FFFFFF"/>
                </a:solidFill>
                <a:latin typeface="Roboto Flex"/>
              </a:rPr>
              <a:t>Very</a:t>
            </a:r>
            <a:r>
              <a:rPr sz="1136" b="0" dirty="0">
                <a:solidFill>
                  <a:srgbClr val="FFFFFF"/>
                </a:solidFill>
                <a:latin typeface="Roboto Flex"/>
              </a:rPr>
              <a:t> important BI topic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7528" y="1323974"/>
            <a:ext cx="2495487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Time-based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0595" y="1666874"/>
            <a:ext cx="2495487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Satisfaction dynamic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7528" y="1666874"/>
            <a:ext cx="2495487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Changes &amp; fluctuates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2152650"/>
            <a:ext cx="5848203" cy="1304925"/>
          </a:xfrm>
          <a:prstGeom prst="roundRect">
            <a:avLst>
              <a:gd name="adj" fmla="val 11678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6652" y="2755582"/>
            <a:ext cx="13049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56" y="2310765"/>
            <a:ext cx="228594" cy="21717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5347" y="2266950"/>
            <a:ext cx="52481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Why Monthly Timeline?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5347" y="2657475"/>
            <a:ext cx="1695407" cy="6858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71545" y="2733674"/>
            <a:ext cx="1543011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F87171"/>
                </a:solidFill>
                <a:latin typeface="Roboto Flex"/>
              </a:rPr>
              <a:t>Daily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1545" y="3000375"/>
            <a:ext cx="154301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Too much noise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66953" y="2657475"/>
            <a:ext cx="1695407" cy="685800"/>
          </a:xfrm>
          <a:prstGeom prst="roundRect">
            <a:avLst>
              <a:gd name="adj" fmla="val 11111"/>
            </a:avLst>
          </a:prstGeom>
          <a:solidFill>
            <a:srgbClr val="37DCF2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52676" y="2743200"/>
            <a:ext cx="1523961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37DCF2"/>
                </a:solidFill>
                <a:latin typeface="Roboto Flex"/>
              </a:rPr>
              <a:t>Monthly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2676" y="3009900"/>
            <a:ext cx="152396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Optimal balance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8083" y="2657475"/>
            <a:ext cx="1695407" cy="6858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24281" y="2733674"/>
            <a:ext cx="1543011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F87171"/>
                </a:solidFill>
                <a:latin typeface="Roboto Flex"/>
              </a:rPr>
              <a:t>Yearly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4281" y="3000375"/>
            <a:ext cx="154301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Roboto Flex"/>
              </a:rPr>
              <a:t>Not useful enough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584" y="3552825"/>
            <a:ext cx="2876478" cy="1523999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-102885" y="4265294"/>
            <a:ext cx="15239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56" y="3720352"/>
            <a:ext cx="190495" cy="17929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19149" y="3667124"/>
            <a:ext cx="91437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Encoding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456" y="4029075"/>
            <a:ext cx="2619309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Qualitative → Quantitative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456" y="4127753"/>
            <a:ext cx="133346" cy="6934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2456" y="4352924"/>
            <a:ext cx="2619309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39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Sentiment metrics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456" y="4461129"/>
            <a:ext cx="133346" cy="69342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3581310" y="3552825"/>
            <a:ext cx="2876478" cy="1523999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2868841" y="4265294"/>
            <a:ext cx="15239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24181" y="3728757"/>
            <a:ext cx="190495" cy="1624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990875" y="3667124"/>
            <a:ext cx="137156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Monthly Goal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24181" y="4029075"/>
            <a:ext cx="2619309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Why drops happened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4181" y="4127753"/>
            <a:ext cx="133346" cy="6934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724181" y="4352924"/>
            <a:ext cx="2619309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39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Reasons for changes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4181" y="4461129"/>
            <a:ext cx="133346" cy="6934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724181" y="4686300"/>
            <a:ext cx="2619309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39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Problems in specific month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4181" y="4784979"/>
            <a:ext cx="133346" cy="69342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609584" y="5162550"/>
            <a:ext cx="5848203" cy="1685925"/>
          </a:xfrm>
          <a:prstGeom prst="roundRect">
            <a:avLst>
              <a:gd name="adj" fmla="val 9039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-183848" y="5955982"/>
            <a:ext cx="16859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2456" y="5333523"/>
            <a:ext cx="228594" cy="19145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95347" y="5276850"/>
            <a:ext cx="52481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Event Detection Thresholds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5347" y="5667374"/>
            <a:ext cx="1695407" cy="1066799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81070" y="5753099"/>
            <a:ext cx="1523961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37DCF2"/>
                </a:solidFill>
                <a:latin typeface="Roboto Flex"/>
              </a:rPr>
              <a:t>+15%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1070" y="6162675"/>
            <a:ext cx="152396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 Flex"/>
              </a:rPr>
              <a:t>SPIKE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1070" y="6419850"/>
            <a:ext cx="152396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Improvement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66953" y="5667374"/>
            <a:ext cx="1695407" cy="1066799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52676" y="5753099"/>
            <a:ext cx="1523961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37DCF2"/>
                </a:solidFill>
                <a:latin typeface="Roboto Flex"/>
              </a:rPr>
              <a:t>-15%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52676" y="6162675"/>
            <a:ext cx="152396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 Flex"/>
              </a:rPr>
              <a:t>DROP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52676" y="6419850"/>
            <a:ext cx="152396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Deterioration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648083" y="5667374"/>
            <a:ext cx="1695407" cy="1066799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733806" y="5753099"/>
            <a:ext cx="1523961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±15%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33806" y="6162675"/>
            <a:ext cx="152396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 Flex"/>
              </a:rPr>
              <a:t>STABLE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33806" y="6419850"/>
            <a:ext cx="152396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Normal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34066" y="1143000"/>
            <a:ext cx="4590935" cy="5372100"/>
          </a:xfrm>
          <a:prstGeom prst="roundRect">
            <a:avLst>
              <a:gd name="adj" fmla="val 4979"/>
            </a:avLst>
          </a:prstGeom>
          <a:solidFill>
            <a:srgbClr val="37DCF2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7448363" y="1257300"/>
            <a:ext cx="4362340" cy="5143500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448363" y="5943600"/>
            <a:ext cx="4362340" cy="4572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562660" y="6057900"/>
            <a:ext cx="413374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</a:rPr>
              <a:t>Interactive Timeline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754361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Model 5: Zero-Shot Classification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956309"/>
            <a:ext cx="5982945" cy="300989"/>
          </a:xfrm>
          <a:prstGeom prst="roundRect">
            <a:avLst>
              <a:gd name="adj" fmla="val 18604"/>
            </a:avLst>
          </a:prstGeom>
          <a:solidFill>
            <a:srgbClr val="37DCF2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3406" y="739139"/>
            <a:ext cx="228594" cy="2171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6298" y="561974"/>
            <a:ext cx="301934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facebook/bart-large-mnli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297" y="934986"/>
            <a:ext cx="301934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FFFFFF"/>
                </a:solidFill>
                <a:latin typeface="Roboto Flex"/>
              </a:rPr>
              <a:t>Zero-Shot Classification • Hugging 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1352549"/>
            <a:ext cx="5848203" cy="1762125"/>
          </a:xfrm>
          <a:prstGeom prst="roundRect">
            <a:avLst>
              <a:gd name="adj" fmla="val 8648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-221948" y="2184081"/>
            <a:ext cx="17621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56" y="1522095"/>
            <a:ext cx="228594" cy="1943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5347" y="1466849"/>
            <a:ext cx="52481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Key Advantages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5347" y="1857375"/>
            <a:ext cx="2581210" cy="1143000"/>
          </a:xfrm>
          <a:prstGeom prst="roundRect">
            <a:avLst>
              <a:gd name="adj" fmla="val 6666"/>
            </a:avLst>
          </a:prstGeom>
          <a:solidFill>
            <a:srgbClr val="37DCF2">
              <a:alpha val="8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9169" y="2070735"/>
            <a:ext cx="228594" cy="1257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23961" y="1990724"/>
            <a:ext cx="182875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 Flex"/>
              </a:rPr>
              <a:t>Temporal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169" y="2362199"/>
            <a:ext cx="2333566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Ideal for time-based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71805" y="1857375"/>
            <a:ext cx="2581210" cy="1143000"/>
          </a:xfrm>
          <a:prstGeom prst="roundRect">
            <a:avLst>
              <a:gd name="adj" fmla="val 6666"/>
            </a:avLst>
          </a:prstGeom>
          <a:solidFill>
            <a:srgbClr val="37DCF2">
              <a:alpha val="8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5627" y="2045017"/>
            <a:ext cx="228594" cy="1771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00419" y="1990724"/>
            <a:ext cx="159063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 Flex"/>
              </a:rPr>
              <a:t>Multiple Problems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5627" y="2362199"/>
            <a:ext cx="2333566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Captures several from single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3209925"/>
            <a:ext cx="5848203" cy="1790700"/>
          </a:xfrm>
          <a:prstGeom prst="roundRect">
            <a:avLst>
              <a:gd name="adj" fmla="val 8510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-236236" y="4055745"/>
            <a:ext cx="17907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2456" y="3379470"/>
            <a:ext cx="228594" cy="19430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5347" y="3324225"/>
            <a:ext cx="52481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Why Zero-Shot?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5347" y="3714750"/>
            <a:ext cx="1695407" cy="66675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71545" y="3790949"/>
            <a:ext cx="154301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Roboto Flex"/>
              </a:rPr>
              <a:t> No training data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71545" y="3849636"/>
            <a:ext cx="171445" cy="149327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2866953" y="3714750"/>
            <a:ext cx="1695407" cy="66675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43151" y="3790949"/>
            <a:ext cx="1543011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Roboto Flex"/>
              </a:rPr>
              <a:t> Flexible categories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43151" y="3973461"/>
            <a:ext cx="171445" cy="149327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4648083" y="3714750"/>
            <a:ext cx="1695407" cy="66675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24281" y="3790949"/>
            <a:ext cx="1543011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Roboto Flex"/>
              </a:rPr>
              <a:t> Reduced overfitting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24281" y="3973461"/>
            <a:ext cx="171445" cy="149327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095347" y="4457700"/>
            <a:ext cx="5248143" cy="428625"/>
          </a:xfrm>
          <a:prstGeom prst="roundRect">
            <a:avLst>
              <a:gd name="adj" fmla="val 17777"/>
            </a:avLst>
          </a:prstGeom>
          <a:solidFill>
            <a:srgbClr val="37DCF2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81070" y="4543425"/>
            <a:ext cx="507669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Roboto Flex"/>
              </a:rPr>
              <a:t>Ideal for:</a:t>
            </a:r>
            <a:r>
              <a:rPr sz="1076" b="0">
                <a:solidFill>
                  <a:srgbClr val="FFFFFF"/>
                </a:solidFill>
                <a:latin typeface="Roboto Flex"/>
              </a:rPr>
              <a:t> Exploratory &amp; evolving datasets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584" y="5095874"/>
            <a:ext cx="5848203" cy="2133599"/>
          </a:xfrm>
          <a:prstGeom prst="roundRect">
            <a:avLst>
              <a:gd name="adj" fmla="val 7142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-407685" y="6113143"/>
            <a:ext cx="21335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2456" y="5265420"/>
            <a:ext cx="228594" cy="19430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95347" y="5210174"/>
            <a:ext cx="52481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Implementation &amp; Outcome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5347" y="5600700"/>
            <a:ext cx="2590735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766417" y="5929630"/>
            <a:ext cx="723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90595" y="5676900"/>
            <a:ext cx="2419289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36" b="1">
                <a:solidFill>
                  <a:srgbClr val="FFFFFF"/>
                </a:solidFill>
                <a:latin typeface="Roboto Flex"/>
              </a:rPr>
              <a:t>Applied to: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90595" y="5981699"/>
            <a:ext cx="241928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Roboto Flex"/>
              </a:rPr>
              <a:t> Negative reviews only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90595" y="6080379"/>
            <a:ext cx="133346" cy="69342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3762280" y="5600700"/>
            <a:ext cx="2590735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3433350" y="5929630"/>
            <a:ext cx="723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857528" y="5676900"/>
            <a:ext cx="2419289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36" b="1">
                <a:solidFill>
                  <a:srgbClr val="FFFFFF"/>
                </a:solidFill>
                <a:latin typeface="Roboto Flex"/>
              </a:rPr>
              <a:t>Result: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57528" y="5981699"/>
            <a:ext cx="241928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Roboto Flex"/>
              </a:rPr>
              <a:t> Monthly problem frequencies 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57528" y="6080379"/>
            <a:ext cx="133346" cy="69342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1095347" y="6400800"/>
            <a:ext cx="2590735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766417" y="6729730"/>
            <a:ext cx="723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90595" y="6477000"/>
            <a:ext cx="2419289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36" b="1">
                <a:solidFill>
                  <a:srgbClr val="FFFFFF"/>
                </a:solidFill>
                <a:latin typeface="Roboto Flex"/>
              </a:rPr>
              <a:t>Format: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90595" y="6781799"/>
            <a:ext cx="241928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Roboto Flex"/>
              </a:rPr>
              <a:t> Percentages for comparison 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90595" y="6880479"/>
            <a:ext cx="133346" cy="69342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3762280" y="6400800"/>
            <a:ext cx="2590735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 Same Side Corner Rectangle 53"/>
          <p:cNvSpPr/>
          <p:nvPr/>
        </p:nvSpPr>
        <p:spPr>
          <a:xfrm rot="16200000">
            <a:off x="3433350" y="6729730"/>
            <a:ext cx="723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857528" y="6477000"/>
            <a:ext cx="2419289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36" b="1">
                <a:solidFill>
                  <a:srgbClr val="FFFFFF"/>
                </a:solidFill>
                <a:latin typeface="Roboto Flex"/>
              </a:rPr>
              <a:t>Goal: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57528" y="6781799"/>
            <a:ext cx="241928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FFFFFF"/>
                </a:solidFill>
                <a:latin typeface="Roboto Flex"/>
              </a:rPr>
              <a:t> Ranked visualizations 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57528" y="6880479"/>
            <a:ext cx="133346" cy="69342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7334066" y="1143000"/>
            <a:ext cx="4590935" cy="5372100"/>
          </a:xfrm>
          <a:prstGeom prst="roundRect">
            <a:avLst>
              <a:gd name="adj" fmla="val 4979"/>
            </a:avLst>
          </a:prstGeom>
          <a:solidFill>
            <a:srgbClr val="37DCF2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7448363" y="1257300"/>
            <a:ext cx="4362340" cy="5143500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448363" y="5943600"/>
            <a:ext cx="4362340" cy="4572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562660" y="6057900"/>
            <a:ext cx="413374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</a:rPr>
              <a:t>Monthly Problem Analysis 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708642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Power BI Dashboard &amp;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552450"/>
            <a:ext cx="5848203" cy="1314450"/>
          </a:xfrm>
          <a:prstGeom prst="roundRect">
            <a:avLst>
              <a:gd name="adj" fmla="val 11594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889" y="1160145"/>
            <a:ext cx="13144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2456" y="733424"/>
            <a:ext cx="228594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5347" y="666750"/>
            <a:ext cx="52481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Visualization Goal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5347" y="1057275"/>
            <a:ext cx="1695407" cy="695325"/>
          </a:xfrm>
          <a:prstGeom prst="roundRect">
            <a:avLst>
              <a:gd name="adj" fmla="val 1095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1545" y="1133475"/>
            <a:ext cx="1543011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Easy to 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6953" y="1057275"/>
            <a:ext cx="1695407" cy="695325"/>
          </a:xfrm>
          <a:prstGeom prst="roundRect">
            <a:avLst>
              <a:gd name="adj" fmla="val 1095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43151" y="1133475"/>
            <a:ext cx="1543011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Easy to compare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48083" y="1057275"/>
            <a:ext cx="1695407" cy="695325"/>
          </a:xfrm>
          <a:prstGeom prst="roundRect">
            <a:avLst>
              <a:gd name="adj" fmla="val 1095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4281" y="1133475"/>
            <a:ext cx="1543011" cy="5429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Interpretable &amp; actionable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1962149"/>
            <a:ext cx="5848203" cy="1409699"/>
          </a:xfrm>
          <a:prstGeom prst="roundRect">
            <a:avLst>
              <a:gd name="adj" fmla="val 10810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-45735" y="2617468"/>
            <a:ext cx="14096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56" y="2120264"/>
            <a:ext cx="228594" cy="21717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5347" y="2076449"/>
            <a:ext cx="52481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Raw Data →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347" y="2466975"/>
            <a:ext cx="1695407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Patterns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5347" y="2565604"/>
            <a:ext cx="171445" cy="8849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866953" y="2466975"/>
            <a:ext cx="1695407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Trends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6953" y="2565604"/>
            <a:ext cx="171445" cy="884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48083" y="2466975"/>
            <a:ext cx="1695407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Anomalies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8083" y="2565604"/>
            <a:ext cx="171445" cy="8849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1095347" y="2819399"/>
            <a:ext cx="5248143" cy="447675"/>
          </a:xfrm>
          <a:prstGeom prst="roundRect">
            <a:avLst>
              <a:gd name="adj" fmla="val 17021"/>
            </a:avLst>
          </a:prstGeom>
          <a:solidFill>
            <a:srgbClr val="37DCF2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81070" y="2905124"/>
            <a:ext cx="5076698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37DCF2"/>
                </a:solidFill>
                <a:latin typeface="Roboto Flex"/>
              </a:rPr>
              <a:t>Enables: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Decision support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584" y="3467100"/>
            <a:ext cx="5848203" cy="2028825"/>
          </a:xfrm>
          <a:prstGeom prst="roundRect">
            <a:avLst>
              <a:gd name="adj" fmla="val 7511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-355298" y="4431982"/>
            <a:ext cx="20288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456" y="3645217"/>
            <a:ext cx="228594" cy="1771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95347" y="3581400"/>
            <a:ext cx="52481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Dashboard Features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5347" y="3971925"/>
            <a:ext cx="1695407" cy="66675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71545" y="4048124"/>
            <a:ext cx="1543011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Interactive visualizations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66953" y="3971925"/>
            <a:ext cx="1695407" cy="66675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43151" y="4048124"/>
            <a:ext cx="154301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Dynamic slicers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48083" y="3971925"/>
            <a:ext cx="1695407" cy="66675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24281" y="4048124"/>
            <a:ext cx="1543011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Comparative metrics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5347" y="4714875"/>
            <a:ext cx="1695407" cy="66675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71545" y="4791075"/>
            <a:ext cx="154301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Drill-down analysis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66953" y="4714875"/>
            <a:ext cx="1695407" cy="66675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943151" y="4791075"/>
            <a:ext cx="154301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Multiple chart types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48083" y="4714875"/>
            <a:ext cx="1695407" cy="66675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24281" y="4791075"/>
            <a:ext cx="1543011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User-friendly interface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9584" y="5591175"/>
            <a:ext cx="2876478" cy="1523999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-102885" y="6303644"/>
            <a:ext cx="15239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2456" y="5778313"/>
            <a:ext cx="190495" cy="140073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19149" y="5705475"/>
            <a:ext cx="1142971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Deployment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2456" y="6067424"/>
            <a:ext cx="2619309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Power BI integration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2456" y="6175629"/>
            <a:ext cx="133346" cy="693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52456" y="6400800"/>
            <a:ext cx="2619309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39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Real-time updates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2456" y="6499479"/>
            <a:ext cx="133346" cy="6934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52456" y="6724649"/>
            <a:ext cx="2619309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39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Exportable reports 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2456" y="6823329"/>
            <a:ext cx="133346" cy="69342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3581310" y="5591175"/>
            <a:ext cx="2876478" cy="1523999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 Same Side Corner Rectangle 51"/>
          <p:cNvSpPr/>
          <p:nvPr/>
        </p:nvSpPr>
        <p:spPr>
          <a:xfrm rot="16200000">
            <a:off x="2868841" y="6303644"/>
            <a:ext cx="15239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24181" y="5767107"/>
            <a:ext cx="190495" cy="16248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990875" y="5705475"/>
            <a:ext cx="57148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Value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24181" y="6067424"/>
            <a:ext cx="2619309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Dynamic exploration 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24181" y="6175629"/>
            <a:ext cx="133346" cy="6934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3724181" y="6400800"/>
            <a:ext cx="2619309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39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Performance comparison 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24181" y="6499479"/>
            <a:ext cx="133346" cy="6934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724181" y="6724649"/>
            <a:ext cx="2619309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39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Data-driven decisions 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24181" y="6823329"/>
            <a:ext cx="133346" cy="69342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7334066" y="1143000"/>
            <a:ext cx="4590935" cy="5372100"/>
          </a:xfrm>
          <a:prstGeom prst="roundRect">
            <a:avLst>
              <a:gd name="adj" fmla="val 4979"/>
            </a:avLst>
          </a:prstGeom>
          <a:solidFill>
            <a:srgbClr val="37DCF2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7448363" y="1257300"/>
            <a:ext cx="4362340" cy="5143500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7448363" y="5943600"/>
            <a:ext cx="4362340" cy="4572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562660" y="6057900"/>
            <a:ext cx="413374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</a:rPr>
              <a:t>Interactive Power BI 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7046" y="-17053"/>
            <a:ext cx="502907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FFFFFF"/>
                </a:solidFill>
                <a:latin typeface="Source Code Pro"/>
              </a:rPr>
              <a:t>Key Results &amp;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495299"/>
            <a:ext cx="5848203" cy="1409699"/>
          </a:xfrm>
          <a:prstGeom prst="roundRect">
            <a:avLst>
              <a:gd name="adj" fmla="val 10810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45735" y="1150618"/>
            <a:ext cx="14096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2456" y="673417"/>
            <a:ext cx="228594" cy="1771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5347" y="609600"/>
            <a:ext cx="52481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Overall Brand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47" y="990599"/>
            <a:ext cx="204782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34% Negative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7468" y="1009649"/>
            <a:ext cx="101914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87171"/>
                </a:solidFill>
                <a:latin typeface="Roboto Flex"/>
              </a:rPr>
              <a:t>(Critical Flag)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5347" y="1352549"/>
            <a:ext cx="5248143" cy="428625"/>
          </a:xfrm>
          <a:prstGeom prst="roundRect">
            <a:avLst>
              <a:gd name="adj" fmla="val 177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1545" y="1428750"/>
            <a:ext cx="5095747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Between 3 people, </a:t>
            </a:r>
            <a:r>
              <a:rPr sz="1136" b="1">
                <a:solidFill>
                  <a:srgbClr val="F87171"/>
                </a:solidFill>
                <a:latin typeface="Roboto Flex"/>
              </a:rPr>
              <a:t>1 is dissatisfied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→ Improvements needed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1990724"/>
            <a:ext cx="5848203" cy="1600200"/>
          </a:xfrm>
          <a:prstGeom prst="roundRect">
            <a:avLst>
              <a:gd name="adj" fmla="val 9523"/>
            </a:avLst>
          </a:prstGeom>
          <a:solidFill>
            <a:srgbClr val="FF98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-140986" y="2741294"/>
            <a:ext cx="16002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56" y="2160270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5347" y="2105024"/>
            <a:ext cx="52481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FB923C"/>
                </a:solidFill>
                <a:latin typeface="Source Code Pro"/>
              </a:rPr>
              <a:t>Business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347" y="2495550"/>
            <a:ext cx="524814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 Flex"/>
              </a:rPr>
              <a:t>"Are we meeting customer expectations?"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347" y="2847974"/>
            <a:ext cx="68578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Answer: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7328" y="2819399"/>
            <a:ext cx="33336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87171"/>
                </a:solidFill>
                <a:latin typeface="Roboto Flex"/>
              </a:rP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347" y="3200400"/>
            <a:ext cx="5248143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47% happy, but </a:t>
            </a:r>
            <a:r>
              <a:rPr sz="1136" b="1">
                <a:solidFill>
                  <a:srgbClr val="F87171"/>
                </a:solidFill>
                <a:latin typeface="Roboto Flex"/>
              </a:rPr>
              <a:t>34% negative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&gt; industry standards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3676649"/>
            <a:ext cx="5848203" cy="1352549"/>
          </a:xfrm>
          <a:prstGeom prst="roundRect">
            <a:avLst>
              <a:gd name="adj" fmla="val 11267"/>
            </a:avLst>
          </a:prstGeom>
          <a:solidFill>
            <a:srgbClr val="FF5252">
              <a:alpha val="12000"/>
            </a:srgbClr>
          </a:solidFill>
          <a:ln w="1651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931" y="3869531"/>
            <a:ext cx="228594" cy="18573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85822" y="3809999"/>
            <a:ext cx="523861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F87171"/>
                </a:solidFill>
                <a:latin typeface="Source Code Pro"/>
              </a:rPr>
              <a:t>Critically Underperforming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85822" y="4210049"/>
            <a:ext cx="2581210" cy="695325"/>
          </a:xfrm>
          <a:prstGeom prst="roundRect">
            <a:avLst>
              <a:gd name="adj" fmla="val 1095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62020" y="4286250"/>
            <a:ext cx="242881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 Flex"/>
              </a:rPr>
              <a:t>Xn Shawerma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2020" y="4572000"/>
            <a:ext cx="2428814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Significant issues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3231" y="4210049"/>
            <a:ext cx="2581210" cy="695325"/>
          </a:xfrm>
          <a:prstGeom prst="roundRect">
            <a:avLst>
              <a:gd name="adj" fmla="val 1095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19429" y="4286250"/>
            <a:ext cx="242881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 Flex"/>
              </a:rPr>
              <a:t>Dominos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9429" y="4572000"/>
            <a:ext cx="2428814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Service gaps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584" y="5124449"/>
            <a:ext cx="2876478" cy="2047874"/>
          </a:xfrm>
          <a:prstGeom prst="roundRect">
            <a:avLst>
              <a:gd name="adj" fmla="val 7441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-364823" y="6098856"/>
            <a:ext cx="204787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456" y="5329517"/>
            <a:ext cx="190495" cy="12326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19149" y="5238749"/>
            <a:ext cx="217164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Review Distribution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456" y="5600700"/>
            <a:ext cx="2619309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 </a:t>
            </a:r>
            <a:r>
              <a:rPr sz="1104"/>
              <a:t>  </a:t>
            </a:r>
            <a:r>
              <a:rPr sz="1136" b="0">
                <a:solidFill>
                  <a:srgbClr val="FFFFFF"/>
                </a:solidFill>
                <a:latin typeface="Roboto Flex"/>
              </a:rPr>
              <a:t> U-shape distribution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2456" y="5708904"/>
            <a:ext cx="133346" cy="6934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47703" y="5934075"/>
            <a:ext cx="252406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High at extremes (1 &amp; 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03" y="6248400"/>
            <a:ext cx="252406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Low in middle (2-4)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81310" y="5124449"/>
            <a:ext cx="2876478" cy="2047874"/>
          </a:xfrm>
          <a:prstGeom prst="roundRect">
            <a:avLst>
              <a:gd name="adj" fmla="val 7441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2606903" y="6098856"/>
            <a:ext cx="204787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24181" y="5332319"/>
            <a:ext cx="190495" cy="11766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990875" y="5238749"/>
            <a:ext cx="228594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</a:rPr>
              <a:t>Restaurant Stability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24181" y="5600700"/>
            <a:ext cx="2619309" cy="704849"/>
          </a:xfrm>
          <a:prstGeom prst="roundRect">
            <a:avLst>
              <a:gd name="adj" fmla="val 10810"/>
            </a:avLst>
          </a:prstGeom>
          <a:solidFill>
            <a:srgbClr val="37DCF2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09904" y="5695949"/>
            <a:ext cx="2447863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37DCF2"/>
                </a:solidFill>
                <a:latin typeface="Roboto Flex"/>
              </a:rPr>
              <a:t>Burger Maker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09904" y="5962650"/>
            <a:ext cx="2447863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Most reliable (21 stables)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724181" y="6362700"/>
            <a:ext cx="2619309" cy="704849"/>
          </a:xfrm>
          <a:prstGeom prst="roundRect">
            <a:avLst>
              <a:gd name="adj" fmla="val 10810"/>
            </a:avLst>
          </a:prstGeom>
          <a:solidFill>
            <a:srgbClr val="7F1D1D">
              <a:alpha val="20000"/>
            </a:srgbClr>
          </a:solidFill>
          <a:ln w="825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09904" y="6448425"/>
            <a:ext cx="2447863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F87171"/>
                </a:solidFill>
                <a:latin typeface="Roboto Flex"/>
              </a:rPr>
              <a:t>99 Grill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09904" y="6724649"/>
            <a:ext cx="2447863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High fluctuations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48363" y="485775"/>
            <a:ext cx="4362340" cy="2124075"/>
          </a:xfrm>
          <a:prstGeom prst="roundRect">
            <a:avLst>
              <a:gd name="adj" fmla="val 7174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6435856" y="1498282"/>
            <a:ext cx="21240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91235" y="659606"/>
            <a:ext cx="228594" cy="18573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934126" y="600075"/>
            <a:ext cx="3762280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 dirty="0">
                <a:solidFill>
                  <a:srgbClr val="37DCF2"/>
                </a:solidFill>
                <a:latin typeface="Source Code Pro"/>
              </a:rPr>
              <a:t>Top Problems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34126" y="923926"/>
            <a:ext cx="3762280" cy="699612"/>
          </a:xfrm>
          <a:prstGeom prst="roundRect">
            <a:avLst>
              <a:gd name="adj" fmla="val 9195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48423" y="972077"/>
            <a:ext cx="353368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 dirty="0">
                <a:solidFill>
                  <a:srgbClr val="FFFFFF"/>
                </a:solidFill>
                <a:latin typeface="Roboto Flex"/>
              </a:rPr>
              <a:t>Taste &amp; Flavor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8423" y="1295926"/>
            <a:ext cx="3533686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 dirty="0">
                <a:solidFill>
                  <a:srgbClr val="FFFFFF"/>
                </a:solidFill>
                <a:latin typeface="Roboto Flex"/>
              </a:rPr>
              <a:t>Most dominant issue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34126" y="1951101"/>
            <a:ext cx="133346" cy="11734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124621" y="1895474"/>
            <a:ext cx="1647783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Kitchen staff training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34126" y="2274951"/>
            <a:ext cx="133346" cy="11734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124621" y="2219324"/>
            <a:ext cx="2104972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Roboto Flex"/>
              </a:rPr>
              <a:t>Ingredient quality increase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48363" y="2724150"/>
            <a:ext cx="4362340" cy="1581149"/>
          </a:xfrm>
          <a:prstGeom prst="roundRect">
            <a:avLst>
              <a:gd name="adj" fmla="val 9638"/>
            </a:avLst>
          </a:prstGeom>
          <a:solidFill>
            <a:srgbClr val="FF5252">
              <a:alpha val="12000"/>
            </a:srgbClr>
          </a:solidFill>
          <a:ln w="1651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81710" y="2912745"/>
            <a:ext cx="228594" cy="19430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924601" y="2857500"/>
            <a:ext cx="3752756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F87171"/>
                </a:solidFill>
                <a:latin typeface="Source Code Pro"/>
              </a:rPr>
              <a:t>Shawerma Reem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662793" y="3248024"/>
            <a:ext cx="2428767" cy="428625"/>
          </a:xfrm>
          <a:prstGeom prst="roundRect">
            <a:avLst>
              <a:gd name="adj" fmla="val 177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48495" y="3290280"/>
            <a:ext cx="1700124" cy="3170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 dirty="0">
                <a:solidFill>
                  <a:srgbClr val="FFFFFF"/>
                </a:solidFill>
                <a:latin typeface="Roboto Flex"/>
              </a:rPr>
              <a:t>Systematic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58043" y="3291815"/>
            <a:ext cx="1833517" cy="32861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 dirty="0">
                <a:solidFill>
                  <a:srgbClr val="FFFFFF"/>
                </a:solidFill>
                <a:latin typeface="Roboto Flex"/>
              </a:rPr>
              <a:t>Failure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924601" y="3743325"/>
            <a:ext cx="3752756" cy="428625"/>
          </a:xfrm>
          <a:prstGeom prst="roundRect">
            <a:avLst>
              <a:gd name="adj" fmla="val 177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000799" y="3819524"/>
            <a:ext cx="3600359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F87171"/>
                </a:solidFill>
                <a:latin typeface="Roboto Flex"/>
              </a:rPr>
              <a:t>Brand Fatigue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34066" y="4305300"/>
            <a:ext cx="4590935" cy="2990849"/>
          </a:xfrm>
          <a:prstGeom prst="roundRect">
            <a:avLst>
              <a:gd name="adj" fmla="val 7643"/>
            </a:avLst>
          </a:prstGeom>
          <a:solidFill>
            <a:srgbClr val="37DCF2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7448363" y="4419600"/>
            <a:ext cx="4362340" cy="2762249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7448363" y="6810374"/>
            <a:ext cx="4362340" cy="371475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9B079BF-A1D5-9EBA-EC57-DE014D9ED9B9}"/>
              </a:ext>
            </a:extLst>
          </p:cNvPr>
          <p:cNvSpPr txBox="1"/>
          <p:nvPr/>
        </p:nvSpPr>
        <p:spPr>
          <a:xfrm>
            <a:off x="7819829" y="1558707"/>
            <a:ext cx="4399134" cy="34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lang="en-US" sz="1200" b="1" dirty="0">
                <a:solidFill>
                  <a:srgbClr val="37DCF2"/>
                </a:solidFill>
                <a:latin typeface="Source Code Pro"/>
              </a:rPr>
              <a:t>Example Solutions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937236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Conclusion, Future Work &amp; Acknowledgments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352549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25702" y="1936431"/>
            <a:ext cx="126682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2456" y="1522095"/>
            <a:ext cx="228594" cy="1943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5347" y="1466849"/>
            <a:ext cx="52481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39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5347" y="1838324"/>
            <a:ext cx="1695407" cy="66675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1545" y="1898613"/>
            <a:ext cx="1543011" cy="546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FFFFFF"/>
                </a:solidFill>
                <a:latin typeface="Roboto Flex"/>
              </a:rPr>
              <a:t>Unstructured </a:t>
            </a:r>
            <a:r>
              <a:rPr lang="en-US" sz="1076" b="0" dirty="0">
                <a:solidFill>
                  <a:srgbClr val="FFFFFF"/>
                </a:solidFill>
                <a:latin typeface="Roboto Flex"/>
              </a:rPr>
              <a:t>data </a:t>
            </a:r>
            <a:r>
              <a:rPr sz="1076" b="0" dirty="0">
                <a:solidFill>
                  <a:srgbClr val="FFFFFF"/>
                </a:solidFill>
                <a:latin typeface="Roboto Flex"/>
              </a:rPr>
              <a:t>→ </a:t>
            </a:r>
            <a:r>
              <a:rPr lang="en-US" sz="1076" b="0" dirty="0">
                <a:solidFill>
                  <a:srgbClr val="FFFFFF"/>
                </a:solidFill>
                <a:latin typeface="Roboto Flex"/>
              </a:rPr>
              <a:t>Useful </a:t>
            </a:r>
            <a:r>
              <a:rPr sz="1076" b="0" dirty="0">
                <a:solidFill>
                  <a:srgbClr val="FFFFFF"/>
                </a:solidFill>
                <a:latin typeface="Roboto Flex"/>
              </a:rPr>
              <a:t>Insights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6953" y="1838324"/>
            <a:ext cx="1695407" cy="66675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43151" y="1914525"/>
            <a:ext cx="1543011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Complete AI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48083" y="1838324"/>
            <a:ext cx="1695407" cy="66675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4281" y="1914525"/>
            <a:ext cx="154301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BI + AI synergy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2695575"/>
            <a:ext cx="5848203" cy="1752599"/>
          </a:xfrm>
          <a:prstGeom prst="roundRect">
            <a:avLst>
              <a:gd name="adj" fmla="val 8695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-217185" y="3522344"/>
            <a:ext cx="17525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56" y="2865120"/>
            <a:ext cx="228594" cy="1943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5347" y="2809875"/>
            <a:ext cx="52481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39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Key Achievements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5347" y="3181350"/>
            <a:ext cx="2590735" cy="66675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71545" y="3257550"/>
            <a:ext cx="2438339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High-accuracy sentiment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62280" y="3181350"/>
            <a:ext cx="2590735" cy="66675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38479" y="3257550"/>
            <a:ext cx="243833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Monthly problem detection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5347" y="3924299"/>
            <a:ext cx="2590735" cy="409574"/>
          </a:xfrm>
          <a:prstGeom prst="roundRect">
            <a:avLst>
              <a:gd name="adj" fmla="val 1860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71545" y="4000500"/>
            <a:ext cx="243833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Interactive Power BI 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62280" y="3924299"/>
            <a:ext cx="2590735" cy="409574"/>
          </a:xfrm>
          <a:prstGeom prst="roundRect">
            <a:avLst>
              <a:gd name="adj" fmla="val 1860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38479" y="3971416"/>
            <a:ext cx="1644937" cy="3153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76" dirty="0">
                <a:solidFill>
                  <a:srgbClr val="FFFFFF"/>
                </a:solidFill>
                <a:latin typeface="Roboto Flex"/>
              </a:rPr>
              <a:t>Strengths , Weaknesses</a:t>
            </a:r>
            <a:endParaRPr sz="1076" b="0" dirty="0">
              <a:solidFill>
                <a:srgbClr val="FFFFFF"/>
              </a:solidFill>
              <a:latin typeface="Roboto Flex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09584" y="4524374"/>
            <a:ext cx="5848203" cy="1790700"/>
          </a:xfrm>
          <a:prstGeom prst="roundRect">
            <a:avLst>
              <a:gd name="adj" fmla="val 8510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-236236" y="5370194"/>
            <a:ext cx="17907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56" y="4695348"/>
            <a:ext cx="228594" cy="19145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95347" y="4638674"/>
            <a:ext cx="52481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390"/>
              </a:spcAft>
            </a:pPr>
            <a:r>
              <a:rPr sz="1315" b="1">
                <a:solidFill>
                  <a:srgbClr val="37DCF2"/>
                </a:solidFill>
                <a:latin typeface="Source Code Pro"/>
              </a:rPr>
              <a:t>Future Directions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5347" y="5010149"/>
            <a:ext cx="2590735" cy="428625"/>
          </a:xfrm>
          <a:prstGeom prst="roundRect">
            <a:avLst>
              <a:gd name="adj" fmla="val 17777"/>
            </a:avLst>
          </a:prstGeom>
          <a:solidFill>
            <a:srgbClr val="37DCF2">
              <a:alpha val="8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1070" y="5095874"/>
            <a:ext cx="241928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Expand to more restaurants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62280" y="5010149"/>
            <a:ext cx="2590735" cy="428625"/>
          </a:xfrm>
          <a:prstGeom prst="roundRect">
            <a:avLst>
              <a:gd name="adj" fmla="val 17777"/>
            </a:avLst>
          </a:prstGeom>
          <a:solidFill>
            <a:srgbClr val="37DCF2">
              <a:alpha val="8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48003" y="5095874"/>
            <a:ext cx="241928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Real-time analysis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5347" y="5514975"/>
            <a:ext cx="2590735" cy="685800"/>
          </a:xfrm>
          <a:prstGeom prst="roundRect">
            <a:avLst>
              <a:gd name="adj" fmla="val 11111"/>
            </a:avLst>
          </a:prstGeom>
          <a:solidFill>
            <a:srgbClr val="37DCF2">
              <a:alpha val="8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81070" y="5600700"/>
            <a:ext cx="2419289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Management system integration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62280" y="5514975"/>
            <a:ext cx="2590735" cy="685800"/>
          </a:xfrm>
          <a:prstGeom prst="roundRect">
            <a:avLst>
              <a:gd name="adj" fmla="val 11111"/>
            </a:avLst>
          </a:prstGeom>
          <a:solidFill>
            <a:srgbClr val="37DCF2">
              <a:alpha val="8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48003" y="5600700"/>
            <a:ext cx="241928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Advanced NLP techniques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48363" y="1009649"/>
            <a:ext cx="4362340" cy="2657475"/>
          </a:xfrm>
          <a:prstGeom prst="roundRect">
            <a:avLst>
              <a:gd name="adj" fmla="val 5734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0591" y="6082189"/>
            <a:ext cx="228594" cy="18002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533060" y="927835"/>
            <a:ext cx="5333867" cy="66704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 err="1">
                <a:solidFill>
                  <a:srgbClr val="37DCF2"/>
                </a:solidFill>
                <a:latin typeface="Source Code Pro"/>
              </a:rPr>
              <a:t>Github</a:t>
            </a:r>
            <a:r>
              <a:rPr lang="en-US" sz="1200" b="1" dirty="0">
                <a:solidFill>
                  <a:srgbClr val="37DCF2"/>
                </a:solidFill>
                <a:latin typeface="Source Code Pro"/>
              </a:rPr>
              <a:t>:</a:t>
            </a:r>
          </a:p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chemeClr val="bg1"/>
                </a:solidFill>
                <a:latin typeface="Source Code Pro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https://github.com/Katrine164/Graduation-project.git</a:t>
            </a:r>
            <a:r>
              <a:rPr lang="en-US" sz="1200" b="1" dirty="0">
                <a:solidFill>
                  <a:schemeClr val="bg1"/>
                </a:solidFill>
                <a:latin typeface="Source Code Pro"/>
              </a:rPr>
              <a:t> </a:t>
            </a:r>
            <a:endParaRPr sz="1200" b="1" dirty="0">
              <a:solidFill>
                <a:schemeClr val="bg1"/>
              </a:solidFill>
              <a:latin typeface="Source Code Pro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600759" y="2438400"/>
            <a:ext cx="4057548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520"/>
              </a:spcAft>
            </a:pPr>
            <a:r>
              <a:rPr sz="1016" b="1">
                <a:solidFill>
                  <a:srgbClr val="FFFFFF"/>
                </a:solidFill>
                <a:latin typeface="Roboto Flex"/>
              </a:rPr>
              <a:t>Open-Source Tools: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00759" y="2762249"/>
            <a:ext cx="2000199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57908" y="2819399"/>
            <a:ext cx="188590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Hugging Face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58108" y="2762249"/>
            <a:ext cx="2000199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715257" y="2819399"/>
            <a:ext cx="188590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Google Colab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00759" y="3162299"/>
            <a:ext cx="2000199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657908" y="3219449"/>
            <a:ext cx="188590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• Microsoft Power BI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58108" y="3162299"/>
            <a:ext cx="2000199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715257" y="3187459"/>
            <a:ext cx="607795" cy="29258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FFFFF"/>
                </a:solidFill>
                <a:latin typeface="Roboto Flex"/>
              </a:rPr>
              <a:t>• Python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48363" y="3809999"/>
            <a:ext cx="4362340" cy="2009774"/>
          </a:xfrm>
          <a:prstGeom prst="roundRect">
            <a:avLst>
              <a:gd name="adj" fmla="val 7582"/>
            </a:avLst>
          </a:prstGeom>
          <a:gradFill rotWithShape="1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00939" y="4078203"/>
            <a:ext cx="457188" cy="39704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686482" y="4619625"/>
            <a:ext cx="3886102" cy="6000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095"/>
              </a:lnSpc>
              <a:spcBef>
                <a:spcPts val="0"/>
              </a:spcBef>
              <a:spcAft>
                <a:spcPts val="520"/>
              </a:spcAft>
            </a:pPr>
            <a:r>
              <a:rPr sz="2511" b="1">
                <a:solidFill>
                  <a:srgbClr val="FFFFFF"/>
                </a:solidFill>
                <a:latin typeface="Source Code Pro"/>
              </a:rPr>
              <a:t>Thank You!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86482" y="5295899"/>
            <a:ext cx="388610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Questions &amp; Discussion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48363" y="5934075"/>
            <a:ext cx="4362340" cy="733424"/>
          </a:xfrm>
          <a:prstGeom prst="roundRect">
            <a:avLst>
              <a:gd name="adj" fmla="val 2077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59185" y="6001025"/>
            <a:ext cx="2337436" cy="2997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Roboto Flex"/>
              </a:rPr>
              <a:t>Katrine </a:t>
            </a:r>
            <a:r>
              <a:rPr sz="1200" b="1" dirty="0" err="1">
                <a:solidFill>
                  <a:srgbClr val="FFFFFF"/>
                </a:solidFill>
                <a:latin typeface="Roboto Flex"/>
              </a:rPr>
              <a:t>Baqaeeen</a:t>
            </a:r>
            <a:r>
              <a:rPr sz="1200" b="1" dirty="0">
                <a:solidFill>
                  <a:srgbClr val="FFFFFF"/>
                </a:solidFill>
                <a:latin typeface="Roboto Flex"/>
              </a:rPr>
              <a:t> [202120564</a:t>
            </a:r>
            <a:r>
              <a:rPr sz="956" b="0" dirty="0">
                <a:solidFill>
                  <a:srgbClr val="FFFFFF"/>
                </a:solidFill>
                <a:latin typeface="Roboto Flex"/>
              </a:rPr>
              <a:t>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59024" y="6298330"/>
            <a:ext cx="2541017" cy="2716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430"/>
              </a:lnSpc>
              <a:spcBef>
                <a:spcPts val="260"/>
              </a:spcBef>
              <a:spcAft>
                <a:spcPts val="0"/>
              </a:spcAft>
            </a:pPr>
            <a:r>
              <a:rPr sz="897" b="0" dirty="0">
                <a:solidFill>
                  <a:srgbClr val="FFFFFF"/>
                </a:solidFill>
                <a:latin typeface="Roboto Flex"/>
              </a:rPr>
              <a:t>Graduation Project • First Semester 2025/202</a:t>
            </a:r>
            <a:r>
              <a:rPr lang="en-US" sz="897" b="0" dirty="0">
                <a:solidFill>
                  <a:srgbClr val="FFFFFF"/>
                </a:solidFill>
                <a:latin typeface="Roboto Flex"/>
              </a:rPr>
              <a:t>6</a:t>
            </a:r>
            <a:endParaRPr sz="897" b="0" dirty="0">
              <a:solidFill>
                <a:srgbClr val="FFFFFF"/>
              </a:solidFill>
              <a:latin typeface="Roboto Flex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948E7D-6696-7C8B-B949-0C37576CB6CD}"/>
              </a:ext>
            </a:extLst>
          </p:cNvPr>
          <p:cNvSpPr txBox="1"/>
          <p:nvPr/>
        </p:nvSpPr>
        <p:spPr>
          <a:xfrm>
            <a:off x="7533060" y="1452116"/>
            <a:ext cx="6949783" cy="96199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37DCF2"/>
                </a:solidFill>
                <a:latin typeface="Source Code Pro"/>
              </a:rPr>
              <a:t>Power BI: </a:t>
            </a:r>
          </a:p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chemeClr val="bg1"/>
                </a:solidFill>
                <a:latin typeface="Source Code Pro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https://app.powerbi.com/links/uaglO44oFg?ctid=97e5760c-fa12-4aae-b4e4-31b43f04e79d&amp;pbi_source=linkShare</a:t>
            </a:r>
            <a:endParaRPr lang="en-US" sz="1200" b="1" dirty="0">
              <a:solidFill>
                <a:schemeClr val="bg1"/>
              </a:solidFill>
              <a:latin typeface="Source Code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1271</Words>
  <Application>Microsoft Office PowerPoint</Application>
  <PresentationFormat>Widescreen</PresentationFormat>
  <Paragraphs>363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Roboto Flex</vt:lpstr>
      <vt:lpstr>Source Code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كاترين جورج حنا بقاعين</cp:lastModifiedBy>
  <cp:revision>2</cp:revision>
  <dcterms:created xsi:type="dcterms:W3CDTF">2013-01-27T09:14:16Z</dcterms:created>
  <dcterms:modified xsi:type="dcterms:W3CDTF">2026-01-13T08:29:53Z</dcterms:modified>
  <cp:category/>
</cp:coreProperties>
</file>